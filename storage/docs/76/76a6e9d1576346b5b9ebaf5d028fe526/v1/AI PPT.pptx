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f48176f73c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f48176f73c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f82044555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f82044555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f82044555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f82044555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f48176f73c_2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f48176f73c_2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48176f73c_2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f48176f73c_2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f48176f73c_2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f48176f73c_2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f48176f73c_2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f48176f73c_2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f48176f73c_2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f48176f73c_2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48176f73c_2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48176f73c_2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f48176f73c_2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f48176f73c_2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f48176f73c_2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f48176f73c_2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f48176f73c_2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f48176f73c_2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f48176f73c_2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f48176f73c_2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f82044555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f82044555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f8187526fe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f8187526f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f8187526fe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f8187526fe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f8187526f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f8187526f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f8187526f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f8187526f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f8187526f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f8187526f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f8187526fe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f8187526fe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f8187526fe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f8187526fe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f8187526fe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f8187526fe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f8187526fe_4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f8187526fe_4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f8187526fe_4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f8187526fe_4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f8187526fe_4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f8187526fe_4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f8187526fe_4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f8187526fe_4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f8187526fe_4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f8187526fe_4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f8187526fe_4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f8187526fe_4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f8187526fe_4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f8187526fe_4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f8187526fe_4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f8187526fe_4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f8187526fe_4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f8187526fe_4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f8187526fe_4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f8187526fe_4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1.jpg"/><Relationship Id="rId4" Type="http://schemas.openxmlformats.org/officeDocument/2006/relationships/image" Target="../media/image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jpg"/><Relationship Id="rId4" Type="http://schemas.openxmlformats.org/officeDocument/2006/relationships/image" Target="../media/image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image" Target="../media/image1.jpg"/><Relationship Id="rId4" Type="http://schemas.openxmlformats.org/officeDocument/2006/relationships/image" Target="../media/image4.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 Id="rId3" Type="http://schemas.openxmlformats.org/officeDocument/2006/relationships/image" Target="../media/image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 Id="rId3" Type="http://schemas.openxmlformats.org/officeDocument/2006/relationships/image" Target="../media/image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nvSpPr>
        <p:spPr>
          <a:xfrm>
            <a:off x="1184300" y="1050150"/>
            <a:ext cx="6961200" cy="178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4000">
                <a:solidFill>
                  <a:srgbClr val="4E4545"/>
                </a:solidFill>
              </a:rPr>
              <a:t>How AI Evolved: From Rules to Reasoning.</a:t>
            </a:r>
            <a:endParaRPr sz="4000">
              <a:solidFill>
                <a:srgbClr val="4E4545"/>
              </a:solidFill>
            </a:endParaRPr>
          </a:p>
        </p:txBody>
      </p:sp>
      <p:sp>
        <p:nvSpPr>
          <p:cNvPr id="55" name="Google Shape;55;p13"/>
          <p:cNvSpPr txBox="1"/>
          <p:nvPr/>
        </p:nvSpPr>
        <p:spPr>
          <a:xfrm>
            <a:off x="1184300" y="2747350"/>
            <a:ext cx="3132900" cy="74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solidFill>
                  <a:srgbClr val="4E4545"/>
                </a:solidFill>
              </a:rPr>
              <a:t>By:Mohammad Raza</a:t>
            </a:r>
            <a:endParaRPr sz="2100">
              <a:solidFill>
                <a:srgbClr val="4E4545"/>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pic>
        <p:nvPicPr>
          <p:cNvPr descr="Make this high quality and don't change anything" id="60" name="Google Shape;60;p14"/>
          <p:cNvPicPr preferRelativeResize="0"/>
          <p:nvPr/>
        </p:nvPicPr>
        <p:blipFill>
          <a:blip r:embed="rId3">
            <a:alphaModFix/>
          </a:blip>
          <a:stretch>
            <a:fillRect/>
          </a:stretch>
        </p:blipFill>
        <p:spPr>
          <a:xfrm>
            <a:off x="0" y="0"/>
            <a:ext cx="9144000" cy="5143500"/>
          </a:xfrm>
          <a:prstGeom prst="rect">
            <a:avLst/>
          </a:prstGeom>
          <a:noFill/>
          <a:ln>
            <a:noFill/>
          </a:ln>
        </p:spPr>
      </p:pic>
      <p:sp>
        <p:nvSpPr>
          <p:cNvPr id="61" name="Google Shape;61;p14"/>
          <p:cNvSpPr txBox="1"/>
          <p:nvPr/>
        </p:nvSpPr>
        <p:spPr>
          <a:xfrm>
            <a:off x="2843700" y="183300"/>
            <a:ext cx="3456600" cy="57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900">
                <a:solidFill>
                  <a:srgbClr val="4E4545"/>
                </a:solidFill>
              </a:rPr>
              <a:t>Topics to be covered:</a:t>
            </a:r>
            <a:endParaRPr sz="2900">
              <a:solidFill>
                <a:srgbClr val="4E4545"/>
              </a:solidFill>
            </a:endParaRPr>
          </a:p>
        </p:txBody>
      </p:sp>
      <p:sp>
        <p:nvSpPr>
          <p:cNvPr id="62" name="Google Shape;62;p14"/>
          <p:cNvSpPr txBox="1"/>
          <p:nvPr/>
        </p:nvSpPr>
        <p:spPr>
          <a:xfrm>
            <a:off x="2439450" y="883400"/>
            <a:ext cx="4265100" cy="40728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rgbClr val="4E4545"/>
              </a:buClr>
              <a:buSzPts val="1400"/>
              <a:buAutoNum type="arabicPeriod"/>
            </a:pPr>
            <a:r>
              <a:rPr b="1" lang="en-GB">
                <a:solidFill>
                  <a:srgbClr val="4E4545"/>
                </a:solidFill>
              </a:rPr>
              <a:t>Introduction to Artificial Intelligence (AI)</a:t>
            </a:r>
            <a:endParaRPr b="1">
              <a:solidFill>
                <a:srgbClr val="4E4545"/>
              </a:solidFill>
            </a:endParaRPr>
          </a:p>
          <a:p>
            <a:pPr indent="-317500" lvl="0" marL="457200" rtl="0" algn="l">
              <a:spcBef>
                <a:spcPts val="0"/>
              </a:spcBef>
              <a:spcAft>
                <a:spcPts val="0"/>
              </a:spcAft>
              <a:buClr>
                <a:srgbClr val="4E4545"/>
              </a:buClr>
              <a:buSzPts val="1400"/>
              <a:buAutoNum type="arabicPeriod"/>
            </a:pPr>
            <a:r>
              <a:rPr b="1" lang="en-GB">
                <a:solidFill>
                  <a:srgbClr val="4E4545"/>
                </a:solidFill>
              </a:rPr>
              <a:t>History of Data Science</a:t>
            </a:r>
            <a:endParaRPr b="1">
              <a:solidFill>
                <a:srgbClr val="4E4545"/>
              </a:solidFill>
            </a:endParaRPr>
          </a:p>
          <a:p>
            <a:pPr indent="-317500" lvl="0" marL="457200" rtl="0" algn="l">
              <a:spcBef>
                <a:spcPts val="0"/>
              </a:spcBef>
              <a:spcAft>
                <a:spcPts val="0"/>
              </a:spcAft>
              <a:buClr>
                <a:srgbClr val="4E4545"/>
              </a:buClr>
              <a:buSzPts val="1400"/>
              <a:buAutoNum type="arabicPeriod"/>
            </a:pPr>
            <a:r>
              <a:rPr b="1" lang="en-GB">
                <a:solidFill>
                  <a:srgbClr val="4E4545"/>
                </a:solidFill>
              </a:rPr>
              <a:t>Rule-Based Systems (Expert Systems)</a:t>
            </a:r>
            <a:endParaRPr b="1">
              <a:solidFill>
                <a:srgbClr val="4E4545"/>
              </a:solidFill>
            </a:endParaRPr>
          </a:p>
          <a:p>
            <a:pPr indent="-317500" lvl="0" marL="457200" rtl="0" algn="l">
              <a:spcBef>
                <a:spcPts val="0"/>
              </a:spcBef>
              <a:spcAft>
                <a:spcPts val="0"/>
              </a:spcAft>
              <a:buClr>
                <a:srgbClr val="4E4545"/>
              </a:buClr>
              <a:buSzPts val="1400"/>
              <a:buAutoNum type="arabicPeriod"/>
            </a:pPr>
            <a:r>
              <a:rPr b="1" lang="en-GB">
                <a:solidFill>
                  <a:srgbClr val="4E4545"/>
                </a:solidFill>
              </a:rPr>
              <a:t>Limitations of Rule-Based Systems</a:t>
            </a:r>
            <a:endParaRPr b="1">
              <a:solidFill>
                <a:srgbClr val="4E4545"/>
              </a:solidFill>
            </a:endParaRPr>
          </a:p>
          <a:p>
            <a:pPr indent="-317500" lvl="0" marL="457200" rtl="0" algn="l">
              <a:spcBef>
                <a:spcPts val="0"/>
              </a:spcBef>
              <a:spcAft>
                <a:spcPts val="0"/>
              </a:spcAft>
              <a:buClr>
                <a:srgbClr val="4E4545"/>
              </a:buClr>
              <a:buSzPts val="1400"/>
              <a:buAutoNum type="arabicPeriod"/>
            </a:pPr>
            <a:r>
              <a:rPr b="1" lang="en-GB">
                <a:solidFill>
                  <a:srgbClr val="4E4545"/>
                </a:solidFill>
              </a:rPr>
              <a:t>Introduction to Machine Learning (ML)</a:t>
            </a:r>
            <a:endParaRPr b="1">
              <a:solidFill>
                <a:srgbClr val="4E4545"/>
              </a:solidFill>
            </a:endParaRPr>
          </a:p>
          <a:p>
            <a:pPr indent="-317500" lvl="0" marL="457200" rtl="0" algn="l">
              <a:spcBef>
                <a:spcPts val="0"/>
              </a:spcBef>
              <a:spcAft>
                <a:spcPts val="0"/>
              </a:spcAft>
              <a:buClr>
                <a:srgbClr val="4E4545"/>
              </a:buClr>
              <a:buSzPts val="1400"/>
              <a:buAutoNum type="arabicPeriod"/>
            </a:pPr>
            <a:r>
              <a:rPr b="1" lang="en-GB">
                <a:solidFill>
                  <a:srgbClr val="4E4545"/>
                </a:solidFill>
              </a:rPr>
              <a:t>Types of Machine Learning</a:t>
            </a:r>
            <a:endParaRPr b="1">
              <a:solidFill>
                <a:srgbClr val="4E4545"/>
              </a:solidFill>
            </a:endParaRPr>
          </a:p>
          <a:p>
            <a:pPr indent="-317500" lvl="0" marL="914400" rtl="0" algn="l">
              <a:lnSpc>
                <a:spcPct val="115000"/>
              </a:lnSpc>
              <a:spcBef>
                <a:spcPts val="0"/>
              </a:spcBef>
              <a:spcAft>
                <a:spcPts val="0"/>
              </a:spcAft>
              <a:buClr>
                <a:srgbClr val="4E4545"/>
              </a:buClr>
              <a:buSzPts val="1400"/>
              <a:buChar char="●"/>
            </a:pPr>
            <a:r>
              <a:rPr lang="en-GB">
                <a:solidFill>
                  <a:srgbClr val="4E4545"/>
                </a:solidFill>
              </a:rPr>
              <a:t>Supervised Learning</a:t>
            </a:r>
            <a:endParaRPr>
              <a:solidFill>
                <a:srgbClr val="4E4545"/>
              </a:solidFill>
            </a:endParaRPr>
          </a:p>
          <a:p>
            <a:pPr indent="-317500" lvl="0" marL="914400" rtl="0" algn="l">
              <a:lnSpc>
                <a:spcPct val="115000"/>
              </a:lnSpc>
              <a:spcBef>
                <a:spcPts val="0"/>
              </a:spcBef>
              <a:spcAft>
                <a:spcPts val="0"/>
              </a:spcAft>
              <a:buClr>
                <a:srgbClr val="4E4545"/>
              </a:buClr>
              <a:buSzPts val="1400"/>
              <a:buChar char="●"/>
            </a:pPr>
            <a:r>
              <a:rPr lang="en-GB">
                <a:solidFill>
                  <a:srgbClr val="4E4545"/>
                </a:solidFill>
              </a:rPr>
              <a:t>Unsupervised Learning</a:t>
            </a:r>
            <a:endParaRPr>
              <a:solidFill>
                <a:srgbClr val="4E4545"/>
              </a:solidFill>
            </a:endParaRPr>
          </a:p>
          <a:p>
            <a:pPr indent="-317500" lvl="0" marL="914400" rtl="0" algn="l">
              <a:lnSpc>
                <a:spcPct val="115000"/>
              </a:lnSpc>
              <a:spcBef>
                <a:spcPts val="0"/>
              </a:spcBef>
              <a:spcAft>
                <a:spcPts val="0"/>
              </a:spcAft>
              <a:buClr>
                <a:srgbClr val="4E4545"/>
              </a:buClr>
              <a:buSzPts val="1400"/>
              <a:buChar char="●"/>
            </a:pPr>
            <a:r>
              <a:rPr lang="en-GB">
                <a:solidFill>
                  <a:srgbClr val="4E4545"/>
                </a:solidFill>
              </a:rPr>
              <a:t>Reinforcement Learning</a:t>
            </a:r>
            <a:endParaRPr>
              <a:solidFill>
                <a:srgbClr val="4E4545"/>
              </a:solidFill>
            </a:endParaRPr>
          </a:p>
          <a:p>
            <a:pPr indent="-317500" lvl="0" marL="457200" rtl="0" algn="l">
              <a:lnSpc>
                <a:spcPct val="115000"/>
              </a:lnSpc>
              <a:spcBef>
                <a:spcPts val="0"/>
              </a:spcBef>
              <a:spcAft>
                <a:spcPts val="0"/>
              </a:spcAft>
              <a:buClr>
                <a:srgbClr val="4E4545"/>
              </a:buClr>
              <a:buSzPts val="1400"/>
              <a:buAutoNum type="arabicPeriod"/>
            </a:pPr>
            <a:r>
              <a:rPr b="1" lang="en-GB">
                <a:solidFill>
                  <a:srgbClr val="4E4545"/>
                </a:solidFill>
              </a:rPr>
              <a:t>Real-World Applications of Machine Learning</a:t>
            </a:r>
            <a:endParaRPr b="1">
              <a:solidFill>
                <a:srgbClr val="4E4545"/>
              </a:solidFill>
            </a:endParaRPr>
          </a:p>
          <a:p>
            <a:pPr indent="-317500" lvl="0" marL="457200" rtl="0" algn="l">
              <a:spcBef>
                <a:spcPts val="0"/>
              </a:spcBef>
              <a:spcAft>
                <a:spcPts val="0"/>
              </a:spcAft>
              <a:buClr>
                <a:srgbClr val="4E4545"/>
              </a:buClr>
              <a:buSzPts val="1400"/>
              <a:buAutoNum type="arabicPeriod"/>
            </a:pPr>
            <a:r>
              <a:rPr b="1" lang="en-GB">
                <a:solidFill>
                  <a:srgbClr val="4E4545"/>
                </a:solidFill>
              </a:rPr>
              <a:t>Deep Learning and Neural Networks</a:t>
            </a:r>
            <a:endParaRPr b="1">
              <a:solidFill>
                <a:srgbClr val="4E4545"/>
              </a:solidFill>
            </a:endParaRPr>
          </a:p>
          <a:p>
            <a:pPr indent="-317500" lvl="0" marL="457200" rtl="0" algn="l">
              <a:spcBef>
                <a:spcPts val="0"/>
              </a:spcBef>
              <a:spcAft>
                <a:spcPts val="0"/>
              </a:spcAft>
              <a:buClr>
                <a:srgbClr val="4E4545"/>
              </a:buClr>
              <a:buSzPts val="1400"/>
              <a:buAutoNum type="arabicPeriod"/>
            </a:pPr>
            <a:r>
              <a:rPr b="1" lang="en-GB">
                <a:solidFill>
                  <a:srgbClr val="4E4545"/>
                </a:solidFill>
              </a:rPr>
              <a:t>Computer Vision and Natural Language </a:t>
            </a:r>
            <a:r>
              <a:rPr b="1" lang="en-GB">
                <a:solidFill>
                  <a:srgbClr val="4E4545"/>
                </a:solidFill>
              </a:rPr>
              <a:t>Processing (NLP)</a:t>
            </a:r>
            <a:endParaRPr b="1">
              <a:solidFill>
                <a:srgbClr val="4E4545"/>
              </a:solidFill>
            </a:endParaRPr>
          </a:p>
          <a:p>
            <a:pPr indent="-317500" lvl="0" marL="457200" rtl="0" algn="l">
              <a:spcBef>
                <a:spcPts val="0"/>
              </a:spcBef>
              <a:spcAft>
                <a:spcPts val="0"/>
              </a:spcAft>
              <a:buClr>
                <a:srgbClr val="4E4545"/>
              </a:buClr>
              <a:buSzPts val="1400"/>
              <a:buAutoNum type="arabicPeriod"/>
            </a:pPr>
            <a:r>
              <a:rPr b="1" lang="en-GB">
                <a:solidFill>
                  <a:srgbClr val="4E4545"/>
                </a:solidFill>
              </a:rPr>
              <a:t>The Transformer Revolution</a:t>
            </a:r>
            <a:endParaRPr b="1">
              <a:solidFill>
                <a:srgbClr val="4E4545"/>
              </a:solidFill>
            </a:endParaRPr>
          </a:p>
          <a:p>
            <a:pPr indent="-317500" lvl="0" marL="457200" rtl="0" algn="l">
              <a:spcBef>
                <a:spcPts val="0"/>
              </a:spcBef>
              <a:spcAft>
                <a:spcPts val="0"/>
              </a:spcAft>
              <a:buClr>
                <a:srgbClr val="4E4545"/>
              </a:buClr>
              <a:buSzPts val="1400"/>
              <a:buAutoNum type="arabicPeriod"/>
            </a:pPr>
            <a:r>
              <a:rPr b="1" lang="en-GB">
                <a:solidFill>
                  <a:srgbClr val="4E4545"/>
                </a:solidFill>
              </a:rPr>
              <a:t>Large Language Models (LLMs)</a:t>
            </a:r>
            <a:endParaRPr b="1">
              <a:solidFill>
                <a:srgbClr val="4E4545"/>
              </a:solidFill>
            </a:endParaRPr>
          </a:p>
          <a:p>
            <a:pPr indent="-317500" lvl="0" marL="457200" rtl="0" algn="l">
              <a:spcBef>
                <a:spcPts val="0"/>
              </a:spcBef>
              <a:spcAft>
                <a:spcPts val="0"/>
              </a:spcAft>
              <a:buClr>
                <a:srgbClr val="4E4545"/>
              </a:buClr>
              <a:buSzPts val="1400"/>
              <a:buAutoNum type="arabicPeriod"/>
            </a:pPr>
            <a:r>
              <a:rPr b="1" lang="en-GB">
                <a:solidFill>
                  <a:srgbClr val="4E4545"/>
                </a:solidFill>
              </a:rPr>
              <a:t>Generative AI</a:t>
            </a:r>
            <a:endParaRPr b="1">
              <a:solidFill>
                <a:srgbClr val="4E4545"/>
              </a:solidFill>
            </a:endParaRPr>
          </a:p>
          <a:p>
            <a:pPr indent="-317500" lvl="0" marL="457200" rtl="0" algn="l">
              <a:spcBef>
                <a:spcPts val="0"/>
              </a:spcBef>
              <a:spcAft>
                <a:spcPts val="0"/>
              </a:spcAft>
              <a:buClr>
                <a:srgbClr val="4E4545"/>
              </a:buClr>
              <a:buSzPts val="1400"/>
              <a:buAutoNum type="arabicPeriod"/>
            </a:pPr>
            <a:r>
              <a:rPr b="1" lang="en-GB">
                <a:solidFill>
                  <a:srgbClr val="4E4545"/>
                </a:solidFill>
              </a:rPr>
              <a:t>AI Agents and Autonomous Systems</a:t>
            </a:r>
            <a:endParaRPr b="1">
              <a:solidFill>
                <a:srgbClr val="4E4545"/>
              </a:solidFill>
            </a:endParaRPr>
          </a:p>
          <a:p>
            <a:pPr indent="-317500" lvl="0" marL="457200" rtl="0" algn="l">
              <a:spcBef>
                <a:spcPts val="0"/>
              </a:spcBef>
              <a:spcAft>
                <a:spcPts val="0"/>
              </a:spcAft>
              <a:buClr>
                <a:srgbClr val="4E4545"/>
              </a:buClr>
              <a:buSzPts val="1400"/>
              <a:buAutoNum type="arabicPeriod"/>
            </a:pPr>
            <a:r>
              <a:rPr b="1" lang="en-GB">
                <a:solidFill>
                  <a:srgbClr val="4E4545"/>
                </a:solidFill>
              </a:rPr>
              <a:t>Conclusion &amp; Key Takeaways</a:t>
            </a:r>
            <a:endParaRPr sz="2100">
              <a:solidFill>
                <a:srgbClr val="4E4545"/>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pic>
        <p:nvPicPr>
          <p:cNvPr descr="Make this high quality and don't change anything" id="67" name="Google Shape;67;p15"/>
          <p:cNvPicPr preferRelativeResize="0"/>
          <p:nvPr/>
        </p:nvPicPr>
        <p:blipFill>
          <a:blip r:embed="rId3">
            <a:alphaModFix/>
          </a:blip>
          <a:stretch>
            <a:fillRect/>
          </a:stretch>
        </p:blipFill>
        <p:spPr>
          <a:xfrm>
            <a:off x="0" y="0"/>
            <a:ext cx="9144000" cy="5143500"/>
          </a:xfrm>
          <a:prstGeom prst="rect">
            <a:avLst/>
          </a:prstGeom>
          <a:noFill/>
          <a:ln>
            <a:noFill/>
          </a:ln>
        </p:spPr>
      </p:pic>
      <p:sp>
        <p:nvSpPr>
          <p:cNvPr id="68" name="Google Shape;68;p15"/>
          <p:cNvSpPr txBox="1"/>
          <p:nvPr/>
        </p:nvSpPr>
        <p:spPr>
          <a:xfrm>
            <a:off x="1987200" y="333325"/>
            <a:ext cx="5169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800">
                <a:solidFill>
                  <a:srgbClr val="4E4545"/>
                </a:solidFill>
              </a:rPr>
              <a:t>History of Data Science</a:t>
            </a:r>
            <a:endParaRPr sz="2900">
              <a:solidFill>
                <a:srgbClr val="4E4545"/>
              </a:solidFill>
            </a:endParaRPr>
          </a:p>
        </p:txBody>
      </p:sp>
      <p:sp>
        <p:nvSpPr>
          <p:cNvPr id="69" name="Google Shape;69;p15"/>
          <p:cNvSpPr txBox="1"/>
          <p:nvPr/>
        </p:nvSpPr>
        <p:spPr>
          <a:xfrm>
            <a:off x="1987200" y="998400"/>
            <a:ext cx="6251700" cy="3803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GB" sz="1800">
                <a:solidFill>
                  <a:schemeClr val="dk1"/>
                </a:solidFill>
              </a:rPr>
              <a:t>1950s–1960s: Birth of Data Analysis</a:t>
            </a:r>
            <a:endParaRPr b="1" sz="1800">
              <a:solidFill>
                <a:schemeClr val="dk1"/>
              </a:solidFill>
            </a:endParaRPr>
          </a:p>
          <a:p>
            <a:pPr indent="-304800" lvl="0" marL="457200" rtl="0" algn="l">
              <a:lnSpc>
                <a:spcPct val="115000"/>
              </a:lnSpc>
              <a:spcBef>
                <a:spcPts val="1200"/>
              </a:spcBef>
              <a:spcAft>
                <a:spcPts val="0"/>
              </a:spcAft>
              <a:buClr>
                <a:schemeClr val="dk1"/>
              </a:buClr>
              <a:buSzPts val="1200"/>
              <a:buChar char="●"/>
            </a:pPr>
            <a:r>
              <a:rPr lang="en-GB" sz="1200">
                <a:solidFill>
                  <a:schemeClr val="dk1"/>
                </a:solidFill>
              </a:rPr>
              <a:t>Data analysis was performed using </a:t>
            </a:r>
            <a:r>
              <a:rPr b="1" lang="en-GB" sz="1200">
                <a:solidFill>
                  <a:schemeClr val="dk1"/>
                </a:solidFill>
              </a:rPr>
              <a:t>statistics and mathematics</a:t>
            </a:r>
            <a:r>
              <a:rPr lang="en-GB" sz="1200">
                <a:solidFill>
                  <a:schemeClr val="dk1"/>
                </a:solidFill>
              </a:rPr>
              <a:t>.</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GB" sz="1200">
                <a:solidFill>
                  <a:schemeClr val="dk1"/>
                </a:solidFill>
              </a:rPr>
              <a:t>Businesses and governments used statistical methods for decision-making.</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GB" sz="1200">
                <a:solidFill>
                  <a:schemeClr val="dk1"/>
                </a:solidFill>
              </a:rPr>
              <a:t>Computers began assisting with data processing.</a:t>
            </a:r>
            <a:endParaRPr sz="12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GB" sz="1800">
                <a:solidFill>
                  <a:schemeClr val="dk1"/>
                </a:solidFill>
              </a:rPr>
              <a:t>1970s: Database Revolution</a:t>
            </a:r>
            <a:endParaRPr b="1" sz="1800">
              <a:solidFill>
                <a:schemeClr val="dk1"/>
              </a:solidFill>
            </a:endParaRPr>
          </a:p>
          <a:p>
            <a:pPr indent="-304800" lvl="0" marL="457200" rtl="0" algn="l">
              <a:lnSpc>
                <a:spcPct val="115000"/>
              </a:lnSpc>
              <a:spcBef>
                <a:spcPts val="1200"/>
              </a:spcBef>
              <a:spcAft>
                <a:spcPts val="0"/>
              </a:spcAft>
              <a:buClr>
                <a:schemeClr val="dk1"/>
              </a:buClr>
              <a:buSzPts val="1200"/>
              <a:buChar char="●"/>
            </a:pPr>
            <a:r>
              <a:rPr lang="en-GB" sz="1200">
                <a:solidFill>
                  <a:schemeClr val="dk1"/>
                </a:solidFill>
              </a:rPr>
              <a:t>Development of </a:t>
            </a:r>
            <a:r>
              <a:rPr b="1" lang="en-GB" sz="1200">
                <a:solidFill>
                  <a:schemeClr val="dk1"/>
                </a:solidFill>
              </a:rPr>
              <a:t>Relational Database Management Systems (RDBMS)</a:t>
            </a:r>
            <a:r>
              <a:rPr lang="en-GB" sz="1200">
                <a:solidFill>
                  <a:schemeClr val="dk1"/>
                </a:solidFill>
              </a:rPr>
              <a:t>.</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GB" sz="1200">
                <a:solidFill>
                  <a:schemeClr val="dk1"/>
                </a:solidFill>
              </a:rPr>
              <a:t>Structured data could be stored, organized, and queried efficiently.</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GB" sz="1200">
                <a:solidFill>
                  <a:schemeClr val="dk1"/>
                </a:solidFill>
              </a:rPr>
              <a:t>SQL became the standard language for managing databases.</a:t>
            </a:r>
            <a:endParaRPr sz="12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GB" sz="1800">
                <a:solidFill>
                  <a:schemeClr val="dk1"/>
                </a:solidFill>
              </a:rPr>
              <a:t>1990s: Data Mining Era</a:t>
            </a:r>
            <a:endParaRPr b="1" sz="1800">
              <a:solidFill>
                <a:schemeClr val="dk1"/>
              </a:solidFill>
            </a:endParaRPr>
          </a:p>
          <a:p>
            <a:pPr indent="-304800" lvl="0" marL="457200" rtl="0" algn="l">
              <a:lnSpc>
                <a:spcPct val="115000"/>
              </a:lnSpc>
              <a:spcBef>
                <a:spcPts val="1200"/>
              </a:spcBef>
              <a:spcAft>
                <a:spcPts val="0"/>
              </a:spcAft>
              <a:buClr>
                <a:schemeClr val="dk1"/>
              </a:buClr>
              <a:buSzPts val="1200"/>
              <a:buChar char="●"/>
            </a:pPr>
            <a:r>
              <a:rPr lang="en-GB" sz="1200">
                <a:solidFill>
                  <a:schemeClr val="dk1"/>
                </a:solidFill>
              </a:rPr>
              <a:t>Organizations started collecting large volumes of digital data.</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GB" sz="1200">
                <a:solidFill>
                  <a:schemeClr val="dk1"/>
                </a:solidFill>
              </a:rPr>
              <a:t>Data Mining techniques were developed to discover hidden patterns and trends.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GB" sz="1200">
                <a:solidFill>
                  <a:schemeClr val="dk1"/>
                </a:solidFill>
              </a:rPr>
              <a:t>Businesses used data for customer analysis, fraud detection, and market research.</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spcBef>
                <a:spcPts val="1200"/>
              </a:spcBef>
              <a:spcAft>
                <a:spcPts val="0"/>
              </a:spcAft>
              <a:buNone/>
            </a:pPr>
            <a:r>
              <a:t/>
            </a:r>
            <a:endParaRPr sz="19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descr="Make this high quality and don't change anything" id="74" name="Google Shape;74;p16"/>
          <p:cNvPicPr preferRelativeResize="0"/>
          <p:nvPr/>
        </p:nvPicPr>
        <p:blipFill>
          <a:blip r:embed="rId3">
            <a:alphaModFix/>
          </a:blip>
          <a:stretch>
            <a:fillRect/>
          </a:stretch>
        </p:blipFill>
        <p:spPr>
          <a:xfrm>
            <a:off x="7924" y="0"/>
            <a:ext cx="9144000" cy="5143500"/>
          </a:xfrm>
          <a:prstGeom prst="rect">
            <a:avLst/>
          </a:prstGeom>
          <a:noFill/>
          <a:ln>
            <a:noFill/>
          </a:ln>
        </p:spPr>
      </p:pic>
      <p:sp>
        <p:nvSpPr>
          <p:cNvPr id="75" name="Google Shape;75;p16"/>
          <p:cNvSpPr txBox="1"/>
          <p:nvPr/>
        </p:nvSpPr>
        <p:spPr>
          <a:xfrm>
            <a:off x="1987200" y="333325"/>
            <a:ext cx="5169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800">
                <a:solidFill>
                  <a:srgbClr val="4E4545"/>
                </a:solidFill>
              </a:rPr>
              <a:t>History of Data Science</a:t>
            </a:r>
            <a:endParaRPr sz="2900">
              <a:solidFill>
                <a:srgbClr val="4E4545"/>
              </a:solidFill>
            </a:endParaRPr>
          </a:p>
        </p:txBody>
      </p:sp>
      <p:sp>
        <p:nvSpPr>
          <p:cNvPr id="76" name="Google Shape;76;p16"/>
          <p:cNvSpPr txBox="1"/>
          <p:nvPr/>
        </p:nvSpPr>
        <p:spPr>
          <a:xfrm>
            <a:off x="1987200" y="1077625"/>
            <a:ext cx="6608400" cy="4001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GB" sz="1800">
                <a:solidFill>
                  <a:schemeClr val="dk1"/>
                </a:solidFill>
              </a:rPr>
              <a:t>2001: Data Science Emerges</a:t>
            </a:r>
            <a:endParaRPr b="1" sz="1800">
              <a:solidFill>
                <a:schemeClr val="dk1"/>
              </a:solidFill>
            </a:endParaRPr>
          </a:p>
          <a:p>
            <a:pPr indent="-304800" lvl="0" marL="457200" rtl="0" algn="l">
              <a:lnSpc>
                <a:spcPct val="115000"/>
              </a:lnSpc>
              <a:spcBef>
                <a:spcPts val="1200"/>
              </a:spcBef>
              <a:spcAft>
                <a:spcPts val="0"/>
              </a:spcAft>
              <a:buClr>
                <a:schemeClr val="dk1"/>
              </a:buClr>
              <a:buSzPts val="1200"/>
              <a:buChar char="●"/>
            </a:pPr>
            <a:r>
              <a:rPr b="1" lang="en-GB" sz="1200">
                <a:solidFill>
                  <a:schemeClr val="dk1"/>
                </a:solidFill>
              </a:rPr>
              <a:t>William S. Cleveland</a:t>
            </a:r>
            <a:r>
              <a:rPr lang="en-GB" sz="1200">
                <a:solidFill>
                  <a:schemeClr val="dk1"/>
                </a:solidFill>
              </a:rPr>
              <a:t> proposed expanding statistics into a new discipline called </a:t>
            </a:r>
            <a:r>
              <a:rPr b="1" lang="en-GB" sz="1200">
                <a:solidFill>
                  <a:schemeClr val="dk1"/>
                </a:solidFill>
              </a:rPr>
              <a:t>Data Science</a:t>
            </a:r>
            <a:r>
              <a:rPr lang="en-GB" sz="1200">
                <a:solidFill>
                  <a:schemeClr val="dk1"/>
                </a:solidFill>
              </a:rPr>
              <a:t>.</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GB" sz="1200">
                <a:solidFill>
                  <a:schemeClr val="dk1"/>
                </a:solidFill>
              </a:rPr>
              <a:t>Data Science combined </a:t>
            </a:r>
            <a:r>
              <a:rPr b="1" lang="en-GB" sz="1200">
                <a:solidFill>
                  <a:schemeClr val="dk1"/>
                </a:solidFill>
              </a:rPr>
              <a:t>statistics, computer science, and domain expertise</a:t>
            </a:r>
            <a:r>
              <a:rPr lang="en-GB" sz="1200">
                <a:solidFill>
                  <a:schemeClr val="dk1"/>
                </a:solidFill>
              </a:rPr>
              <a:t> to extract insights from data.</a:t>
            </a:r>
            <a:endParaRPr sz="12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GB" sz="1800">
                <a:solidFill>
                  <a:schemeClr val="dk1"/>
                </a:solidFill>
              </a:rPr>
              <a:t>2010s: Big Data &amp; Machine Learning</a:t>
            </a:r>
            <a:endParaRPr b="1" sz="1800">
              <a:solidFill>
                <a:schemeClr val="dk1"/>
              </a:solidFill>
            </a:endParaRPr>
          </a:p>
          <a:p>
            <a:pPr indent="-304800" lvl="0" marL="457200" rtl="0" algn="l">
              <a:lnSpc>
                <a:spcPct val="115000"/>
              </a:lnSpc>
              <a:spcBef>
                <a:spcPts val="1200"/>
              </a:spcBef>
              <a:spcAft>
                <a:spcPts val="0"/>
              </a:spcAft>
              <a:buClr>
                <a:schemeClr val="dk1"/>
              </a:buClr>
              <a:buSzPts val="1200"/>
              <a:buChar char="●"/>
            </a:pPr>
            <a:r>
              <a:rPr lang="en-GB" sz="1200">
                <a:solidFill>
                  <a:schemeClr val="dk1"/>
                </a:solidFill>
              </a:rPr>
              <a:t>Massive growth of data from the internet, smartphones, and social media.</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GB" sz="1200">
                <a:solidFill>
                  <a:schemeClr val="dk1"/>
                </a:solidFill>
              </a:rPr>
              <a:t>Technologies like </a:t>
            </a:r>
            <a:r>
              <a:rPr b="1" lang="en-GB" sz="1200">
                <a:solidFill>
                  <a:schemeClr val="dk1"/>
                </a:solidFill>
              </a:rPr>
              <a:t>Hadoop</a:t>
            </a:r>
            <a:r>
              <a:rPr lang="en-GB" sz="1200">
                <a:solidFill>
                  <a:schemeClr val="dk1"/>
                </a:solidFill>
              </a:rPr>
              <a:t> and </a:t>
            </a:r>
            <a:r>
              <a:rPr b="1" lang="en-GB" sz="1200">
                <a:solidFill>
                  <a:schemeClr val="dk1"/>
                </a:solidFill>
              </a:rPr>
              <a:t>Spark</a:t>
            </a:r>
            <a:r>
              <a:rPr lang="en-GB" sz="1200">
                <a:solidFill>
                  <a:schemeClr val="dk1"/>
                </a:solidFill>
              </a:rPr>
              <a:t> enabled processing of Big Data.</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GB" sz="1200">
                <a:solidFill>
                  <a:schemeClr val="dk1"/>
                </a:solidFill>
              </a:rPr>
              <a:t>Machine Learning became widely adopted for predictive analytics and automation.</a:t>
            </a:r>
            <a:endParaRPr sz="12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GB" sz="1800">
                <a:solidFill>
                  <a:schemeClr val="dk1"/>
                </a:solidFill>
              </a:rPr>
              <a:t>2020s: AI &amp; Generative AI</a:t>
            </a:r>
            <a:endParaRPr b="1" sz="1800">
              <a:solidFill>
                <a:schemeClr val="dk1"/>
              </a:solidFill>
            </a:endParaRPr>
          </a:p>
          <a:p>
            <a:pPr indent="-304800" lvl="0" marL="457200" rtl="0" algn="l">
              <a:lnSpc>
                <a:spcPct val="115000"/>
              </a:lnSpc>
              <a:spcBef>
                <a:spcPts val="1200"/>
              </a:spcBef>
              <a:spcAft>
                <a:spcPts val="0"/>
              </a:spcAft>
              <a:buClr>
                <a:schemeClr val="dk1"/>
              </a:buClr>
              <a:buSzPts val="1200"/>
              <a:buChar char="●"/>
            </a:pPr>
            <a:r>
              <a:rPr lang="en-GB" sz="1200">
                <a:solidFill>
                  <a:schemeClr val="dk1"/>
                </a:solidFill>
              </a:rPr>
              <a:t>Deep Learning and Large Language Models transformed Data Science.</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GB" sz="1200">
                <a:solidFill>
                  <a:schemeClr val="dk1"/>
                </a:solidFill>
              </a:rPr>
              <a:t>Data Scientists began using AI for automation, prediction, and content generation.</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GB" sz="1200">
                <a:solidFill>
                  <a:schemeClr val="dk1"/>
                </a:solidFill>
              </a:rPr>
              <a:t>Modern Data Science integrates </a:t>
            </a:r>
            <a:r>
              <a:rPr b="1" lang="en-GB" sz="1200">
                <a:solidFill>
                  <a:schemeClr val="dk1"/>
                </a:solidFill>
              </a:rPr>
              <a:t>Machine Learning, Deep Learning, Generative AI, and AI Agents</a:t>
            </a:r>
            <a:r>
              <a:rPr lang="en-GB" sz="1200">
                <a:solidFill>
                  <a:schemeClr val="dk1"/>
                </a:solidFill>
              </a:rPr>
              <a:t>.</a:t>
            </a:r>
            <a:endParaRPr sz="1200">
              <a:solidFill>
                <a:schemeClr val="dk1"/>
              </a:solidFill>
            </a:endParaRPr>
          </a:p>
          <a:p>
            <a:pPr indent="0" lvl="0" marL="0" rtl="0" algn="l">
              <a:spcBef>
                <a:spcPts val="1200"/>
              </a:spcBef>
              <a:spcAft>
                <a:spcPts val="0"/>
              </a:spcAft>
              <a:buNone/>
            </a:pPr>
            <a:r>
              <a:t/>
            </a:r>
            <a:endParaRPr sz="19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descr="Make this high quality and don't change anything" id="81" name="Google Shape;81;p17"/>
          <p:cNvPicPr preferRelativeResize="0"/>
          <p:nvPr/>
        </p:nvPicPr>
        <p:blipFill>
          <a:blip r:embed="rId3">
            <a:alphaModFix/>
          </a:blip>
          <a:stretch>
            <a:fillRect/>
          </a:stretch>
        </p:blipFill>
        <p:spPr>
          <a:xfrm>
            <a:off x="0" y="0"/>
            <a:ext cx="9144000" cy="5143500"/>
          </a:xfrm>
          <a:prstGeom prst="rect">
            <a:avLst/>
          </a:prstGeom>
          <a:noFill/>
          <a:ln>
            <a:noFill/>
          </a:ln>
        </p:spPr>
      </p:pic>
      <p:sp>
        <p:nvSpPr>
          <p:cNvPr id="82" name="Google Shape;82;p17"/>
          <p:cNvSpPr txBox="1"/>
          <p:nvPr/>
        </p:nvSpPr>
        <p:spPr>
          <a:xfrm>
            <a:off x="1611150" y="619700"/>
            <a:ext cx="5921700" cy="149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800">
                <a:solidFill>
                  <a:srgbClr val="4E4545"/>
                </a:solidFill>
              </a:rPr>
              <a:t>Introduction to Artificial Intelligence (AI)</a:t>
            </a:r>
            <a:endParaRPr b="1" sz="2800">
              <a:solidFill>
                <a:srgbClr val="4E4545"/>
              </a:solidFill>
            </a:endParaRPr>
          </a:p>
          <a:p>
            <a:pPr indent="0" lvl="0" marL="0" rtl="0" algn="ctr">
              <a:spcBef>
                <a:spcPts val="0"/>
              </a:spcBef>
              <a:spcAft>
                <a:spcPts val="0"/>
              </a:spcAft>
              <a:buNone/>
            </a:pPr>
            <a:r>
              <a:t/>
            </a:r>
            <a:endParaRPr sz="2900">
              <a:solidFill>
                <a:srgbClr val="4E4545"/>
              </a:solidFill>
            </a:endParaRPr>
          </a:p>
        </p:txBody>
      </p:sp>
      <p:sp>
        <p:nvSpPr>
          <p:cNvPr id="83" name="Google Shape;83;p17"/>
          <p:cNvSpPr txBox="1"/>
          <p:nvPr/>
        </p:nvSpPr>
        <p:spPr>
          <a:xfrm>
            <a:off x="1281650" y="1566475"/>
            <a:ext cx="7023300" cy="33543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Char char="●"/>
            </a:pPr>
            <a:r>
              <a:rPr lang="en-GB" sz="1500">
                <a:solidFill>
                  <a:schemeClr val="dk1"/>
                </a:solidFill>
              </a:rPr>
              <a:t>Artificial Intelligence is the science a</a:t>
            </a:r>
            <a:r>
              <a:rPr lang="en-GB" sz="1500">
                <a:solidFill>
                  <a:schemeClr val="dk1"/>
                </a:solidFill>
              </a:rPr>
              <a:t>n</a:t>
            </a:r>
            <a:r>
              <a:rPr lang="en-GB" sz="1500">
                <a:solidFill>
                  <a:schemeClr val="dk1"/>
                </a:solidFill>
              </a:rPr>
              <a:t>d engineering of creating </a:t>
            </a:r>
            <a:r>
              <a:rPr b="1" lang="en-GB" sz="1500">
                <a:solidFill>
                  <a:schemeClr val="dk1"/>
                </a:solidFill>
              </a:rPr>
              <a:t>machines capable of performing tasks</a:t>
            </a:r>
            <a:r>
              <a:rPr lang="en-GB" sz="1500">
                <a:solidFill>
                  <a:schemeClr val="dk1"/>
                </a:solidFill>
              </a:rPr>
              <a:t> that typically require human intelligence.</a:t>
            </a:r>
            <a:endParaRPr sz="1500">
              <a:solidFill>
                <a:schemeClr val="dk1"/>
              </a:solidFill>
            </a:endParaRPr>
          </a:p>
          <a:p>
            <a:pPr indent="0" lvl="0" marL="457200" rtl="0" algn="l">
              <a:spcBef>
                <a:spcPts val="0"/>
              </a:spcBef>
              <a:spcAft>
                <a:spcPts val="0"/>
              </a:spcAft>
              <a:buNone/>
            </a:pPr>
            <a:r>
              <a:t/>
            </a:r>
            <a:endParaRPr sz="1500">
              <a:solidFill>
                <a:srgbClr val="4E4545"/>
              </a:solidFill>
            </a:endParaRPr>
          </a:p>
          <a:p>
            <a:pPr indent="-323850" lvl="0" marL="457200" rtl="0" algn="l">
              <a:spcBef>
                <a:spcPts val="0"/>
              </a:spcBef>
              <a:spcAft>
                <a:spcPts val="0"/>
              </a:spcAft>
              <a:buClr>
                <a:schemeClr val="dk1"/>
              </a:buClr>
              <a:buSzPts val="1500"/>
              <a:buChar char="●"/>
            </a:pPr>
            <a:r>
              <a:rPr lang="en-GB" sz="1500">
                <a:solidFill>
                  <a:schemeClr val="dk1"/>
                </a:solidFill>
              </a:rPr>
              <a:t>AI enables machines to </a:t>
            </a:r>
            <a:r>
              <a:rPr b="1" lang="en-GB" sz="1500">
                <a:solidFill>
                  <a:schemeClr val="dk1"/>
                </a:solidFill>
              </a:rPr>
              <a:t>learn, reason, solve problems, understand language, perceive images, and make decisions</a:t>
            </a:r>
            <a:r>
              <a:rPr lang="en-GB" sz="1500">
                <a:solidFill>
                  <a:schemeClr val="dk1"/>
                </a:solidFill>
              </a:rPr>
              <a:t>.</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323850" lvl="0" marL="457200" rtl="0" algn="l">
              <a:spcBef>
                <a:spcPts val="0"/>
              </a:spcBef>
              <a:spcAft>
                <a:spcPts val="0"/>
              </a:spcAft>
              <a:buClr>
                <a:schemeClr val="dk1"/>
              </a:buClr>
              <a:buSzPts val="1500"/>
              <a:buChar char="●"/>
            </a:pPr>
            <a:r>
              <a:rPr lang="en-GB" sz="1500">
                <a:solidFill>
                  <a:schemeClr val="dk1"/>
                </a:solidFill>
              </a:rPr>
              <a:t>AI combines multiple fields, including </a:t>
            </a:r>
            <a:r>
              <a:rPr b="1" lang="en-GB" sz="1500">
                <a:solidFill>
                  <a:schemeClr val="dk1"/>
                </a:solidFill>
              </a:rPr>
              <a:t>Machine Learning, Deep Learning, Natural Language Processing (NLP), Computer Vision, and Robotics</a:t>
            </a:r>
            <a:r>
              <a:rPr lang="en-GB" sz="1500">
                <a:solidFill>
                  <a:schemeClr val="dk1"/>
                </a:solidFill>
              </a:rPr>
              <a:t>.</a:t>
            </a:r>
            <a:endParaRPr sz="1500">
              <a:solidFill>
                <a:schemeClr val="dk1"/>
              </a:solidFill>
            </a:endParaRPr>
          </a:p>
          <a:p>
            <a:pPr indent="0" lvl="0" marL="457200" rtl="0" algn="l">
              <a:spcBef>
                <a:spcPts val="0"/>
              </a:spcBef>
              <a:spcAft>
                <a:spcPts val="0"/>
              </a:spcAft>
              <a:buNone/>
            </a:pPr>
            <a:r>
              <a:t/>
            </a:r>
            <a:endParaRPr sz="1500">
              <a:solidFill>
                <a:schemeClr val="dk1"/>
              </a:solidFill>
            </a:endParaRPr>
          </a:p>
          <a:p>
            <a:pPr indent="-323850" lvl="0" marL="457200" rtl="0" algn="l">
              <a:spcBef>
                <a:spcPts val="0"/>
              </a:spcBef>
              <a:spcAft>
                <a:spcPts val="0"/>
              </a:spcAft>
              <a:buClr>
                <a:schemeClr val="dk1"/>
              </a:buClr>
              <a:buSzPts val="1500"/>
              <a:buChar char="●"/>
            </a:pPr>
            <a:r>
              <a:rPr lang="en-GB" sz="1500">
                <a:solidFill>
                  <a:schemeClr val="dk1"/>
                </a:solidFill>
              </a:rPr>
              <a:t>AI is transforming industries such as </a:t>
            </a:r>
            <a:r>
              <a:rPr b="1" lang="en-GB" sz="1500">
                <a:solidFill>
                  <a:schemeClr val="dk1"/>
                </a:solidFill>
              </a:rPr>
              <a:t>healthcare, finance, education, manufacturing, transportation, and entertainment.</a:t>
            </a:r>
            <a:endParaRPr b="1" sz="1500">
              <a:solidFill>
                <a:schemeClr val="dk1"/>
              </a:solidFill>
            </a:endParaRPr>
          </a:p>
          <a:p>
            <a:pPr indent="0" lvl="0" marL="457200" rtl="0" algn="l">
              <a:spcBef>
                <a:spcPts val="0"/>
              </a:spcBef>
              <a:spcAft>
                <a:spcPts val="0"/>
              </a:spcAft>
              <a:buNone/>
            </a:pPr>
            <a:r>
              <a:rPr lang="en-GB" sz="1500">
                <a:solidFill>
                  <a:schemeClr val="dk1"/>
                </a:solidFill>
              </a:rPr>
              <a:t>.</a:t>
            </a:r>
            <a:endParaRPr sz="1500">
              <a:solidFill>
                <a:schemeClr val="dk1"/>
              </a:solidFill>
            </a:endParaRPr>
          </a:p>
          <a:p>
            <a:pPr indent="-323850" lvl="0" marL="457200" rtl="0" algn="l">
              <a:spcBef>
                <a:spcPts val="0"/>
              </a:spcBef>
              <a:spcAft>
                <a:spcPts val="0"/>
              </a:spcAft>
              <a:buClr>
                <a:schemeClr val="dk1"/>
              </a:buClr>
              <a:buSzPts val="1500"/>
              <a:buChar char="●"/>
            </a:pPr>
            <a:r>
              <a:rPr lang="en-GB" sz="1500">
                <a:solidFill>
                  <a:schemeClr val="dk1"/>
                </a:solidFill>
              </a:rPr>
              <a:t>Modern AI systems can analyze vast amounts of data, identify patterns, and continuously improve their performance.</a:t>
            </a:r>
            <a:endParaRPr sz="2200">
              <a:solidFill>
                <a:srgbClr val="4E4545"/>
              </a:solidFill>
            </a:endParaRPr>
          </a:p>
          <a:p>
            <a:pPr indent="0" lvl="0" marL="0" rtl="0" algn="l">
              <a:spcBef>
                <a:spcPts val="0"/>
              </a:spcBef>
              <a:spcAft>
                <a:spcPts val="0"/>
              </a:spcAft>
              <a:buNone/>
            </a:pPr>
            <a:r>
              <a:t/>
            </a:r>
            <a:endParaRPr sz="1800">
              <a:solidFill>
                <a:srgbClr val="4E4545"/>
              </a:solidFill>
            </a:endParaRPr>
          </a:p>
          <a:p>
            <a:pPr indent="0" lvl="0" marL="0" rtl="0" algn="l">
              <a:spcBef>
                <a:spcPts val="0"/>
              </a:spcBef>
              <a:spcAft>
                <a:spcPts val="0"/>
              </a:spcAft>
              <a:buNone/>
            </a:pPr>
            <a:r>
              <a:t/>
            </a:r>
            <a:endParaRPr sz="1800">
              <a:solidFill>
                <a:srgbClr val="4E4545"/>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descr="Make this high quality and don't change anything" id="88" name="Google Shape;88;p18"/>
          <p:cNvPicPr preferRelativeResize="0"/>
          <p:nvPr/>
        </p:nvPicPr>
        <p:blipFill>
          <a:blip r:embed="rId3">
            <a:alphaModFix/>
          </a:blip>
          <a:stretch>
            <a:fillRect/>
          </a:stretch>
        </p:blipFill>
        <p:spPr>
          <a:xfrm>
            <a:off x="0" y="0"/>
            <a:ext cx="9144000" cy="5143500"/>
          </a:xfrm>
          <a:prstGeom prst="rect">
            <a:avLst/>
          </a:prstGeom>
          <a:noFill/>
          <a:ln>
            <a:noFill/>
          </a:ln>
        </p:spPr>
      </p:pic>
      <p:sp>
        <p:nvSpPr>
          <p:cNvPr id="89" name="Google Shape;89;p18"/>
          <p:cNvSpPr txBox="1"/>
          <p:nvPr/>
        </p:nvSpPr>
        <p:spPr>
          <a:xfrm>
            <a:off x="1987200" y="333325"/>
            <a:ext cx="5169600" cy="104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800">
                <a:solidFill>
                  <a:srgbClr val="4E4545"/>
                </a:solidFill>
              </a:rPr>
              <a:t>Rule-Based Systems (Expert Systems)</a:t>
            </a:r>
            <a:endParaRPr sz="2900">
              <a:solidFill>
                <a:srgbClr val="4E4545"/>
              </a:solidFill>
            </a:endParaRPr>
          </a:p>
        </p:txBody>
      </p:sp>
      <p:sp>
        <p:nvSpPr>
          <p:cNvPr id="90" name="Google Shape;90;p18"/>
          <p:cNvSpPr txBox="1"/>
          <p:nvPr/>
        </p:nvSpPr>
        <p:spPr>
          <a:xfrm>
            <a:off x="1958975" y="1550050"/>
            <a:ext cx="5633700" cy="3032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800">
                <a:solidFill>
                  <a:schemeClr val="dk1"/>
                </a:solidFill>
              </a:rPr>
              <a:t>Definition:</a:t>
            </a:r>
            <a:endParaRPr b="1" sz="18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GB" sz="1600">
                <a:solidFill>
                  <a:schemeClr val="dk1"/>
                </a:solidFill>
              </a:rPr>
              <a:t>Rule-Based Systems are one of the earliest forms of Artificial Intelligence.</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They make decisions using </a:t>
            </a:r>
            <a:r>
              <a:rPr b="1" lang="en-GB" sz="1600">
                <a:solidFill>
                  <a:schemeClr val="dk1"/>
                </a:solidFill>
              </a:rPr>
              <a:t>predefined IF–THEN rules</a:t>
            </a:r>
            <a:r>
              <a:rPr lang="en-GB" sz="1600">
                <a:solidFill>
                  <a:schemeClr val="dk1"/>
                </a:solidFill>
              </a:rPr>
              <a:t> created by human experts.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These systems do </a:t>
            </a:r>
            <a:r>
              <a:rPr b="1" lang="en-GB" sz="1600">
                <a:solidFill>
                  <a:schemeClr val="dk1"/>
                </a:solidFill>
              </a:rPr>
              <a:t>not learn from data</a:t>
            </a:r>
            <a:r>
              <a:rPr lang="en-GB" sz="1600">
                <a:solidFill>
                  <a:schemeClr val="dk1"/>
                </a:solidFill>
              </a:rPr>
              <a:t>; they strictly follow programmed logic.</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Commonly used for solving well-defined problems with clear rules.</a:t>
            </a:r>
            <a:endParaRPr sz="1600">
              <a:solidFill>
                <a:schemeClr val="dk1"/>
              </a:solidFill>
            </a:endParaRPr>
          </a:p>
          <a:p>
            <a:pPr indent="0" lvl="0" marL="0" rtl="0" algn="l">
              <a:spcBef>
                <a:spcPts val="1200"/>
              </a:spcBef>
              <a:spcAft>
                <a:spcPts val="0"/>
              </a:spcAft>
              <a:buNone/>
            </a:pPr>
            <a:r>
              <a:t/>
            </a:r>
            <a:endParaRPr sz="23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descr="Make this high quality and don't change anything" id="95" name="Google Shape;95;p19"/>
          <p:cNvPicPr preferRelativeResize="0"/>
          <p:nvPr/>
        </p:nvPicPr>
        <p:blipFill>
          <a:blip r:embed="rId3">
            <a:alphaModFix/>
          </a:blip>
          <a:stretch>
            <a:fillRect/>
          </a:stretch>
        </p:blipFill>
        <p:spPr>
          <a:xfrm>
            <a:off x="0" y="0"/>
            <a:ext cx="9144000" cy="5143500"/>
          </a:xfrm>
          <a:prstGeom prst="rect">
            <a:avLst/>
          </a:prstGeom>
          <a:noFill/>
          <a:ln>
            <a:noFill/>
          </a:ln>
        </p:spPr>
      </p:pic>
      <p:sp>
        <p:nvSpPr>
          <p:cNvPr id="96" name="Google Shape;96;p19"/>
          <p:cNvSpPr txBox="1"/>
          <p:nvPr/>
        </p:nvSpPr>
        <p:spPr>
          <a:xfrm>
            <a:off x="1958975" y="1550050"/>
            <a:ext cx="5633700" cy="3032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800">
                <a:solidFill>
                  <a:schemeClr val="dk1"/>
                </a:solidFill>
              </a:rPr>
              <a:t>How They Work:</a:t>
            </a:r>
            <a:endParaRPr b="1" sz="18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GB" sz="1600">
                <a:solidFill>
                  <a:schemeClr val="dk1"/>
                </a:solidFill>
              </a:rPr>
              <a:t>Receive an input from the user or environment.</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Compare the input against a </a:t>
            </a:r>
            <a:r>
              <a:rPr b="1" lang="en-GB" sz="1600">
                <a:solidFill>
                  <a:schemeClr val="dk1"/>
                </a:solidFill>
              </a:rPr>
              <a:t>knowledge base</a:t>
            </a:r>
            <a:r>
              <a:rPr lang="en-GB" sz="1600">
                <a:solidFill>
                  <a:schemeClr val="dk1"/>
                </a:solidFill>
              </a:rPr>
              <a:t> of rules.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An </a:t>
            </a:r>
            <a:r>
              <a:rPr b="1" lang="en-GB" sz="1600">
                <a:solidFill>
                  <a:schemeClr val="dk1"/>
                </a:solidFill>
              </a:rPr>
              <a:t>inference engine</a:t>
            </a:r>
            <a:r>
              <a:rPr lang="en-GB" sz="1600">
                <a:solidFill>
                  <a:schemeClr val="dk1"/>
                </a:solidFill>
              </a:rPr>
              <a:t> evaluates the matching rules.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Produce an output or decision based on the applicable rule.</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600">
                <a:solidFill>
                  <a:schemeClr val="dk1"/>
                </a:solidFill>
              </a:rPr>
              <a:t>Example:</a:t>
            </a:r>
            <a:endParaRPr b="1" sz="1600">
              <a:solidFill>
                <a:schemeClr val="dk1"/>
              </a:solidFill>
            </a:endParaRPr>
          </a:p>
          <a:p>
            <a:pPr indent="0" lvl="0" marL="0" rtl="0" algn="l">
              <a:spcBef>
                <a:spcPts val="1200"/>
              </a:spcBef>
              <a:spcAft>
                <a:spcPts val="0"/>
              </a:spcAft>
              <a:buNone/>
            </a:pPr>
            <a:r>
              <a:rPr lang="en-GB" sz="1600">
                <a:solidFill>
                  <a:schemeClr val="dk1"/>
                </a:solidFill>
              </a:rPr>
              <a:t>IF Temperature &gt; 38°C</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THEN Patient has a Fever</a:t>
            </a:r>
            <a:endParaRPr sz="1600">
              <a:solidFill>
                <a:schemeClr val="dk1"/>
              </a:solidFill>
            </a:endParaRPr>
          </a:p>
          <a:p>
            <a:pPr indent="0" lvl="0" marL="0" rtl="0" algn="l">
              <a:spcBef>
                <a:spcPts val="0"/>
              </a:spcBef>
              <a:spcAft>
                <a:spcPts val="0"/>
              </a:spcAft>
              <a:buNone/>
            </a:pPr>
            <a:r>
              <a:t/>
            </a:r>
            <a:endParaRPr b="1" sz="2300">
              <a:solidFill>
                <a:schemeClr val="dk1"/>
              </a:solidFill>
            </a:endParaRPr>
          </a:p>
        </p:txBody>
      </p:sp>
      <p:sp>
        <p:nvSpPr>
          <p:cNvPr id="97" name="Google Shape;97;p19"/>
          <p:cNvSpPr txBox="1"/>
          <p:nvPr/>
        </p:nvSpPr>
        <p:spPr>
          <a:xfrm>
            <a:off x="1987200" y="333325"/>
            <a:ext cx="5169600" cy="104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800">
                <a:solidFill>
                  <a:srgbClr val="4E4545"/>
                </a:solidFill>
              </a:rPr>
              <a:t>Rule-Based Systems (Expert Systems)</a:t>
            </a:r>
            <a:endParaRPr sz="2900">
              <a:solidFill>
                <a:srgbClr val="4E4545"/>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descr="Make this high quality and don't change anything" id="102" name="Google Shape;102;p20"/>
          <p:cNvPicPr preferRelativeResize="0"/>
          <p:nvPr/>
        </p:nvPicPr>
        <p:blipFill>
          <a:blip r:embed="rId3">
            <a:alphaModFix/>
          </a:blip>
          <a:stretch>
            <a:fillRect/>
          </a:stretch>
        </p:blipFill>
        <p:spPr>
          <a:xfrm>
            <a:off x="0" y="0"/>
            <a:ext cx="9144000" cy="5143500"/>
          </a:xfrm>
          <a:prstGeom prst="rect">
            <a:avLst/>
          </a:prstGeom>
          <a:noFill/>
          <a:ln>
            <a:noFill/>
          </a:ln>
        </p:spPr>
      </p:pic>
      <p:sp>
        <p:nvSpPr>
          <p:cNvPr id="103" name="Google Shape;103;p20"/>
          <p:cNvSpPr txBox="1"/>
          <p:nvPr/>
        </p:nvSpPr>
        <p:spPr>
          <a:xfrm>
            <a:off x="1987200" y="333325"/>
            <a:ext cx="5169600" cy="104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800">
                <a:solidFill>
                  <a:srgbClr val="4E4545"/>
                </a:solidFill>
              </a:rPr>
              <a:t>Rule-Based Systems (Expert Systems)</a:t>
            </a:r>
            <a:endParaRPr sz="2900">
              <a:solidFill>
                <a:srgbClr val="4E4545"/>
              </a:solidFill>
            </a:endParaRPr>
          </a:p>
        </p:txBody>
      </p:sp>
      <p:sp>
        <p:nvSpPr>
          <p:cNvPr id="104" name="Google Shape;104;p20"/>
          <p:cNvSpPr txBox="1"/>
          <p:nvPr/>
        </p:nvSpPr>
        <p:spPr>
          <a:xfrm>
            <a:off x="1987200" y="1335875"/>
            <a:ext cx="6369000" cy="3511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500">
                <a:solidFill>
                  <a:schemeClr val="dk1"/>
                </a:solidFill>
              </a:rPr>
              <a:t>Advantages:</a:t>
            </a:r>
            <a:endParaRPr b="1" sz="1500">
              <a:solidFill>
                <a:schemeClr val="dk1"/>
              </a:solidFill>
            </a:endParaRPr>
          </a:p>
          <a:p>
            <a:pPr indent="-311150" lvl="0" marL="457200" rtl="0" algn="l">
              <a:lnSpc>
                <a:spcPct val="115000"/>
              </a:lnSpc>
              <a:spcBef>
                <a:spcPts val="1200"/>
              </a:spcBef>
              <a:spcAft>
                <a:spcPts val="0"/>
              </a:spcAft>
              <a:buClr>
                <a:schemeClr val="dk1"/>
              </a:buClr>
              <a:buSzPts val="1300"/>
              <a:buChar char="●"/>
            </a:pPr>
            <a:r>
              <a:rPr lang="en-GB" sz="1300">
                <a:solidFill>
                  <a:schemeClr val="dk1"/>
                </a:solidFill>
              </a:rPr>
              <a:t>Easy to understand and explain.</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Fast and consistent decision-making.</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Reliable for repetitive and well-defined tasks.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Does not require training data.</a:t>
            </a:r>
            <a:endParaRPr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500">
                <a:solidFill>
                  <a:schemeClr val="dk1"/>
                </a:solidFill>
              </a:rPr>
              <a:t>Limitations:</a:t>
            </a:r>
            <a:endParaRPr b="1" sz="1500">
              <a:solidFill>
                <a:schemeClr val="dk1"/>
              </a:solidFill>
            </a:endParaRPr>
          </a:p>
          <a:p>
            <a:pPr indent="-311150" lvl="0" marL="457200" rtl="0" algn="l">
              <a:lnSpc>
                <a:spcPct val="115000"/>
              </a:lnSpc>
              <a:spcBef>
                <a:spcPts val="1200"/>
              </a:spcBef>
              <a:spcAft>
                <a:spcPts val="0"/>
              </a:spcAft>
              <a:buClr>
                <a:schemeClr val="dk1"/>
              </a:buClr>
              <a:buSzPts val="1300"/>
              <a:buChar char="●"/>
            </a:pPr>
            <a:r>
              <a:rPr lang="en-GB" sz="1300">
                <a:solidFill>
                  <a:schemeClr val="dk1"/>
                </a:solidFill>
              </a:rPr>
              <a:t>Cannot learn from new experiences.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Requires manual updates when rules change.</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Difficult to scale as the number of rules increases.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Performs poorly with uncertain or complex problems.</a:t>
            </a:r>
            <a:endParaRPr sz="1300">
              <a:solidFill>
                <a:schemeClr val="dk1"/>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descr="Make this high quality and don't change anything" id="109" name="Google Shape;109;p21"/>
          <p:cNvPicPr preferRelativeResize="0"/>
          <p:nvPr/>
        </p:nvPicPr>
        <p:blipFill>
          <a:blip r:embed="rId3">
            <a:alphaModFix/>
          </a:blip>
          <a:stretch>
            <a:fillRect/>
          </a:stretch>
        </p:blipFill>
        <p:spPr>
          <a:xfrm>
            <a:off x="0" y="0"/>
            <a:ext cx="9144000" cy="5143500"/>
          </a:xfrm>
          <a:prstGeom prst="rect">
            <a:avLst/>
          </a:prstGeom>
          <a:noFill/>
          <a:ln>
            <a:noFill/>
          </a:ln>
        </p:spPr>
      </p:pic>
      <p:sp>
        <p:nvSpPr>
          <p:cNvPr id="110" name="Google Shape;110;p21"/>
          <p:cNvSpPr txBox="1"/>
          <p:nvPr/>
        </p:nvSpPr>
        <p:spPr>
          <a:xfrm>
            <a:off x="1987200" y="333325"/>
            <a:ext cx="5169600" cy="104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800">
                <a:solidFill>
                  <a:srgbClr val="4E4545"/>
                </a:solidFill>
              </a:rPr>
              <a:t>Rule-Based Systems (Expert Systems)</a:t>
            </a:r>
            <a:endParaRPr sz="2900">
              <a:solidFill>
                <a:srgbClr val="4E4545"/>
              </a:solidFill>
            </a:endParaRPr>
          </a:p>
        </p:txBody>
      </p:sp>
      <p:sp>
        <p:nvSpPr>
          <p:cNvPr id="111" name="Google Shape;111;p21"/>
          <p:cNvSpPr txBox="1"/>
          <p:nvPr/>
        </p:nvSpPr>
        <p:spPr>
          <a:xfrm>
            <a:off x="1987200" y="1380025"/>
            <a:ext cx="6369000" cy="3367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GB" sz="1700">
                <a:solidFill>
                  <a:schemeClr val="dk1"/>
                </a:solidFill>
              </a:rPr>
              <a:t>Use Case 1: Medical Diagnosis Expert System</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100">
                <a:solidFill>
                  <a:schemeClr val="dk1"/>
                </a:solidFill>
              </a:rPr>
              <a:t>Example:</a:t>
            </a:r>
            <a:r>
              <a:rPr lang="en-GB" sz="1100">
                <a:solidFill>
                  <a:schemeClr val="dk1"/>
                </a:solidFill>
              </a:rPr>
              <a:t> MYCIN (1970s)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100">
                <a:solidFill>
                  <a:schemeClr val="dk1"/>
                </a:solidFill>
              </a:rPr>
              <a:t>Summary:</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sz="1100">
                <a:solidFill>
                  <a:schemeClr val="dk1"/>
                </a:solidFill>
              </a:rPr>
              <a:t>Doctors entered a patient's symptoms into the system.</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The expert system applied </a:t>
            </a:r>
            <a:r>
              <a:rPr b="1" lang="en-GB" sz="1100">
                <a:solidFill>
                  <a:schemeClr val="dk1"/>
                </a:solidFill>
              </a:rPr>
              <a:t>IF–THEN rules</a:t>
            </a:r>
            <a:r>
              <a:rPr lang="en-GB" sz="1100">
                <a:solidFill>
                  <a:schemeClr val="dk1"/>
                </a:solidFill>
              </a:rPr>
              <a:t> from medical experts to identify possible bacterial infections.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It also recommended suitable antibiotics based on predefined medical knowledge.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This helped doctors make faster and more consistent decisions, especially in complex cases.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100">
                <a:solidFill>
                  <a:schemeClr val="dk1"/>
                </a:solidFill>
              </a:rPr>
              <a:t>Example Rule:</a:t>
            </a:r>
            <a:endParaRPr b="1" sz="1100">
              <a:solidFill>
                <a:schemeClr val="dk1"/>
              </a:solidFill>
            </a:endParaRPr>
          </a:p>
          <a:p>
            <a:pPr indent="0" lvl="0" marL="0" rtl="0" algn="l">
              <a:spcBef>
                <a:spcPts val="1200"/>
              </a:spcBef>
              <a:spcAft>
                <a:spcPts val="0"/>
              </a:spcAft>
              <a:buNone/>
            </a:pPr>
            <a:r>
              <a:rPr lang="en-GB" sz="1100">
                <a:solidFill>
                  <a:schemeClr val="dk1"/>
                </a:solidFill>
              </a:rPr>
              <a:t>IF Patient has Fever</a:t>
            </a:r>
            <a:endParaRPr sz="1100">
              <a:solidFill>
                <a:schemeClr val="dk1"/>
              </a:solidFill>
            </a:endParaRPr>
          </a:p>
          <a:p>
            <a:pPr indent="0" lvl="0" marL="0" rtl="0" algn="l">
              <a:spcBef>
                <a:spcPts val="0"/>
              </a:spcBef>
              <a:spcAft>
                <a:spcPts val="0"/>
              </a:spcAft>
              <a:buNone/>
            </a:pPr>
            <a:r>
              <a:rPr lang="en-GB" sz="1100">
                <a:solidFill>
                  <a:schemeClr val="dk1"/>
                </a:solidFill>
              </a:rPr>
              <a:t>AND White Blood Cell Count is High</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100">
                <a:solidFill>
                  <a:schemeClr val="dk1"/>
                </a:solidFill>
              </a:rPr>
              <a:t>THEN Possible Bacterial Infection</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descr="Make this high quality and don't change anything" id="116" name="Google Shape;116;p22"/>
          <p:cNvPicPr preferRelativeResize="0"/>
          <p:nvPr/>
        </p:nvPicPr>
        <p:blipFill>
          <a:blip r:embed="rId3">
            <a:alphaModFix/>
          </a:blip>
          <a:stretch>
            <a:fillRect/>
          </a:stretch>
        </p:blipFill>
        <p:spPr>
          <a:xfrm>
            <a:off x="0" y="0"/>
            <a:ext cx="9144000" cy="5143500"/>
          </a:xfrm>
          <a:prstGeom prst="rect">
            <a:avLst/>
          </a:prstGeom>
          <a:noFill/>
          <a:ln>
            <a:noFill/>
          </a:ln>
        </p:spPr>
      </p:pic>
      <p:sp>
        <p:nvSpPr>
          <p:cNvPr id="117" name="Google Shape;117;p22"/>
          <p:cNvSpPr txBox="1"/>
          <p:nvPr/>
        </p:nvSpPr>
        <p:spPr>
          <a:xfrm>
            <a:off x="1987200" y="333325"/>
            <a:ext cx="5169600" cy="104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800">
                <a:solidFill>
                  <a:srgbClr val="4E4545"/>
                </a:solidFill>
              </a:rPr>
              <a:t>Rule-Based Systems (Expert Systems)</a:t>
            </a:r>
            <a:endParaRPr sz="2900">
              <a:solidFill>
                <a:srgbClr val="4E4545"/>
              </a:solidFill>
            </a:endParaRPr>
          </a:p>
        </p:txBody>
      </p:sp>
      <p:sp>
        <p:nvSpPr>
          <p:cNvPr id="118" name="Google Shape;118;p22"/>
          <p:cNvSpPr txBox="1"/>
          <p:nvPr/>
        </p:nvSpPr>
        <p:spPr>
          <a:xfrm>
            <a:off x="1987200" y="1380025"/>
            <a:ext cx="5770200" cy="316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GB" sz="1700">
                <a:solidFill>
                  <a:schemeClr val="dk1"/>
                </a:solidFill>
              </a:rPr>
              <a:t>Use Case 2: Banking Loan Approval</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100">
                <a:solidFill>
                  <a:schemeClr val="dk1"/>
                </a:solidFill>
              </a:rPr>
              <a:t>Summary:</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sz="1100">
                <a:solidFill>
                  <a:schemeClr val="dk1"/>
                </a:solidFill>
              </a:rPr>
              <a:t>Banks use rule-based systems to evaluate loan applications.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The system checks predefined conditions such as credit score, income, employment status, and existing debt.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Based on these rules, the application is approved, rejected, or sent for manual review.</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This speeds up decision-making and ensures consistent application of lending policies.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100">
                <a:solidFill>
                  <a:schemeClr val="dk1"/>
                </a:solidFill>
              </a:rPr>
              <a:t>Example Rule:</a:t>
            </a:r>
            <a:endParaRPr b="1" sz="1100">
              <a:solidFill>
                <a:schemeClr val="dk1"/>
              </a:solidFill>
            </a:endParaRPr>
          </a:p>
          <a:p>
            <a:pPr indent="0" lvl="0" marL="0" rtl="0" algn="l">
              <a:spcBef>
                <a:spcPts val="1200"/>
              </a:spcBef>
              <a:spcAft>
                <a:spcPts val="0"/>
              </a:spcAft>
              <a:buNone/>
            </a:pPr>
            <a:r>
              <a:rPr lang="en-GB" sz="1100">
                <a:solidFill>
                  <a:schemeClr val="dk1"/>
                </a:solidFill>
              </a:rPr>
              <a:t>IF Credit Score &gt; 750</a:t>
            </a:r>
            <a:endParaRPr sz="1100">
              <a:solidFill>
                <a:schemeClr val="dk1"/>
              </a:solidFill>
            </a:endParaRPr>
          </a:p>
          <a:p>
            <a:pPr indent="0" lvl="0" marL="0" rtl="0" algn="l">
              <a:spcBef>
                <a:spcPts val="0"/>
              </a:spcBef>
              <a:spcAft>
                <a:spcPts val="0"/>
              </a:spcAft>
              <a:buNone/>
            </a:pPr>
            <a:r>
              <a:rPr lang="en-GB" sz="1100">
                <a:solidFill>
                  <a:schemeClr val="dk1"/>
                </a:solidFill>
              </a:rPr>
              <a:t>AND Annual Income &gt; ₹10,00,000</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100">
                <a:solidFill>
                  <a:schemeClr val="dk1"/>
                </a:solidFill>
              </a:rPr>
              <a:t>THEN Approve Loan</a:t>
            </a:r>
            <a:endParaRPr sz="1100">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descr="Make this high quality and don't change anything" id="123" name="Google Shape;123;p23"/>
          <p:cNvPicPr preferRelativeResize="0"/>
          <p:nvPr/>
        </p:nvPicPr>
        <p:blipFill>
          <a:blip r:embed="rId3">
            <a:alphaModFix/>
          </a:blip>
          <a:stretch>
            <a:fillRect/>
          </a:stretch>
        </p:blipFill>
        <p:spPr>
          <a:xfrm>
            <a:off x="0" y="0"/>
            <a:ext cx="9144000" cy="5143500"/>
          </a:xfrm>
          <a:prstGeom prst="rect">
            <a:avLst/>
          </a:prstGeom>
          <a:noFill/>
          <a:ln>
            <a:noFill/>
          </a:ln>
        </p:spPr>
      </p:pic>
      <p:sp>
        <p:nvSpPr>
          <p:cNvPr id="124" name="Google Shape;124;p23"/>
          <p:cNvSpPr txBox="1"/>
          <p:nvPr/>
        </p:nvSpPr>
        <p:spPr>
          <a:xfrm>
            <a:off x="1987200" y="333325"/>
            <a:ext cx="5169600" cy="104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800">
                <a:solidFill>
                  <a:srgbClr val="4E4545"/>
                </a:solidFill>
              </a:rPr>
              <a:t>Introduction to Machine Learning (ML)</a:t>
            </a:r>
            <a:endParaRPr sz="2900">
              <a:solidFill>
                <a:srgbClr val="4E4545"/>
              </a:solidFill>
            </a:endParaRPr>
          </a:p>
        </p:txBody>
      </p:sp>
      <p:sp>
        <p:nvSpPr>
          <p:cNvPr id="125" name="Google Shape;125;p23"/>
          <p:cNvSpPr txBox="1"/>
          <p:nvPr/>
        </p:nvSpPr>
        <p:spPr>
          <a:xfrm>
            <a:off x="1987200" y="1380025"/>
            <a:ext cx="6195300" cy="3564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800">
                <a:solidFill>
                  <a:schemeClr val="dk1"/>
                </a:solidFill>
              </a:rPr>
              <a:t>Definition:</a:t>
            </a:r>
            <a:endParaRPr b="1" sz="1800">
              <a:solidFill>
                <a:schemeClr val="dk1"/>
              </a:solidFill>
            </a:endParaRPr>
          </a:p>
          <a:p>
            <a:pPr indent="-330200" lvl="0" marL="457200" rtl="0" algn="l">
              <a:lnSpc>
                <a:spcPct val="115000"/>
              </a:lnSpc>
              <a:spcBef>
                <a:spcPts val="1200"/>
              </a:spcBef>
              <a:spcAft>
                <a:spcPts val="0"/>
              </a:spcAft>
              <a:buClr>
                <a:schemeClr val="dk1"/>
              </a:buClr>
              <a:buSzPts val="1600"/>
              <a:buChar char="●"/>
            </a:pPr>
            <a:r>
              <a:rPr b="1" lang="en-GB" sz="1600">
                <a:solidFill>
                  <a:schemeClr val="dk1"/>
                </a:solidFill>
              </a:rPr>
              <a:t>Machine Learning (ML)</a:t>
            </a:r>
            <a:r>
              <a:rPr lang="en-GB" sz="1600">
                <a:solidFill>
                  <a:schemeClr val="dk1"/>
                </a:solidFill>
              </a:rPr>
              <a:t> is a subset of Artificial Intelligence that enables computers to </a:t>
            </a:r>
            <a:r>
              <a:rPr b="1" lang="en-GB" sz="1600">
                <a:solidFill>
                  <a:schemeClr val="dk1"/>
                </a:solidFill>
              </a:rPr>
              <a:t>learn from data</a:t>
            </a:r>
            <a:r>
              <a:rPr lang="en-GB" sz="1600">
                <a:solidFill>
                  <a:schemeClr val="dk1"/>
                </a:solidFill>
              </a:rPr>
              <a:t> without being explicitly programmed.</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Instead of relying on predefined rules, ML algorithms identify patterns and make predictions based on experience.</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The more quality data the model is trained on, the better its performance becomes.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ML is widely used for prediction, classification, recommendation, and automation.</a:t>
            </a:r>
            <a:endParaRPr sz="1600">
              <a:solidFill>
                <a:schemeClr val="dk1"/>
              </a:solidFill>
            </a:endParaRPr>
          </a:p>
          <a:p>
            <a:pPr indent="0" lvl="0" marL="0" rtl="0" algn="l">
              <a:spcBef>
                <a:spcPts val="1200"/>
              </a:spcBef>
              <a:spcAft>
                <a:spcPts val="0"/>
              </a:spcAft>
              <a:buNone/>
            </a:pPr>
            <a:r>
              <a:t/>
            </a:r>
            <a:endParaRPr b="1" sz="23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descr="Make this high quality and don't change anything" id="130" name="Google Shape;130;p24"/>
          <p:cNvPicPr preferRelativeResize="0"/>
          <p:nvPr/>
        </p:nvPicPr>
        <p:blipFill>
          <a:blip r:embed="rId3">
            <a:alphaModFix/>
          </a:blip>
          <a:stretch>
            <a:fillRect/>
          </a:stretch>
        </p:blipFill>
        <p:spPr>
          <a:xfrm>
            <a:off x="0" y="0"/>
            <a:ext cx="9144000" cy="5143500"/>
          </a:xfrm>
          <a:prstGeom prst="rect">
            <a:avLst/>
          </a:prstGeom>
          <a:noFill/>
          <a:ln>
            <a:noFill/>
          </a:ln>
        </p:spPr>
      </p:pic>
      <p:sp>
        <p:nvSpPr>
          <p:cNvPr id="131" name="Google Shape;131;p24"/>
          <p:cNvSpPr txBox="1"/>
          <p:nvPr/>
        </p:nvSpPr>
        <p:spPr>
          <a:xfrm>
            <a:off x="1987200" y="333325"/>
            <a:ext cx="5169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800">
                <a:solidFill>
                  <a:srgbClr val="4E4545"/>
                </a:solidFill>
              </a:rPr>
              <a:t>Types of Machine Learning</a:t>
            </a:r>
            <a:endParaRPr sz="2900">
              <a:solidFill>
                <a:srgbClr val="4E4545"/>
              </a:solidFill>
            </a:endParaRPr>
          </a:p>
        </p:txBody>
      </p:sp>
      <p:sp>
        <p:nvSpPr>
          <p:cNvPr id="132" name="Google Shape;132;p24"/>
          <p:cNvSpPr txBox="1"/>
          <p:nvPr/>
        </p:nvSpPr>
        <p:spPr>
          <a:xfrm>
            <a:off x="1987200" y="1116725"/>
            <a:ext cx="6083400" cy="32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GB" sz="2100">
                <a:solidFill>
                  <a:schemeClr val="dk1"/>
                </a:solidFill>
              </a:rPr>
              <a:t>Supervised Learning:</a:t>
            </a:r>
            <a:endParaRPr b="1" sz="2100">
              <a:solidFill>
                <a:schemeClr val="dk1"/>
              </a:solidFill>
            </a:endParaRPr>
          </a:p>
          <a:p>
            <a:pPr indent="0" lvl="0" marL="0" rtl="0" algn="l">
              <a:lnSpc>
                <a:spcPct val="115000"/>
              </a:lnSpc>
              <a:spcBef>
                <a:spcPts val="1400"/>
              </a:spcBef>
              <a:spcAft>
                <a:spcPts val="0"/>
              </a:spcAft>
              <a:buNone/>
            </a:pPr>
            <a:r>
              <a:rPr b="1" lang="en-GB" sz="1700">
                <a:solidFill>
                  <a:schemeClr val="dk1"/>
                </a:solidFill>
              </a:rPr>
              <a:t>Definition:</a:t>
            </a:r>
            <a:r>
              <a:rPr lang="en-GB" sz="1700">
                <a:solidFill>
                  <a:schemeClr val="dk1"/>
                </a:solidFill>
              </a:rPr>
              <a:t> Learns from </a:t>
            </a:r>
            <a:r>
              <a:rPr b="1" lang="en-GB" sz="1700">
                <a:solidFill>
                  <a:schemeClr val="dk1"/>
                </a:solidFill>
              </a:rPr>
              <a:t>labeled data</a:t>
            </a:r>
            <a:r>
              <a:rPr lang="en-GB" sz="1700">
                <a:solidFill>
                  <a:schemeClr val="dk1"/>
                </a:solidFill>
              </a:rPr>
              <a:t> to predict outcomes or classify new data.</a:t>
            </a:r>
            <a:endParaRPr sz="17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b="1" lang="en-GB" sz="1600">
                <a:solidFill>
                  <a:schemeClr val="dk1"/>
                </a:solidFill>
              </a:rPr>
              <a:t>Popular Algorithms:</a:t>
            </a:r>
            <a:endParaRPr b="1"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GB" sz="1600">
                <a:solidFill>
                  <a:schemeClr val="dk1"/>
                </a:solidFill>
              </a:rPr>
              <a:t>Linear Regression</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Decision Tree</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Random Forest</a:t>
            </a:r>
            <a:endParaRPr sz="1600">
              <a:solidFill>
                <a:schemeClr val="dk1"/>
              </a:solidFill>
            </a:endParaRPr>
          </a:p>
          <a:p>
            <a:pPr indent="0" lvl="0" marL="0" rtl="0" algn="l">
              <a:lnSpc>
                <a:spcPct val="115000"/>
              </a:lnSpc>
              <a:spcBef>
                <a:spcPts val="1200"/>
              </a:spcBef>
              <a:spcAft>
                <a:spcPts val="0"/>
              </a:spcAft>
              <a:buNone/>
            </a:pPr>
            <a:r>
              <a:rPr b="1" lang="en-GB" sz="1600">
                <a:solidFill>
                  <a:schemeClr val="dk1"/>
                </a:solidFill>
              </a:rPr>
              <a:t>Example:</a:t>
            </a:r>
            <a:r>
              <a:rPr lang="en-GB" sz="1600">
                <a:solidFill>
                  <a:schemeClr val="dk1"/>
                </a:solidFill>
              </a:rPr>
              <a:t> Email spam detection, house price prediction.</a:t>
            </a:r>
            <a:endParaRPr sz="2100">
              <a:solidFill>
                <a:schemeClr val="dk1"/>
              </a:solidFill>
            </a:endParaRPr>
          </a:p>
          <a:p>
            <a:pPr indent="0" lvl="0" marL="0" rtl="0" algn="l">
              <a:lnSpc>
                <a:spcPct val="115000"/>
              </a:lnSpc>
              <a:spcBef>
                <a:spcPts val="1400"/>
              </a:spcBef>
              <a:spcAft>
                <a:spcPts val="400"/>
              </a:spcAft>
              <a:buNone/>
            </a:pPr>
            <a:r>
              <a:t/>
            </a:r>
            <a:endParaRPr sz="17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descr="Make this high quality and don't change anything" id="137" name="Google Shape;137;p25"/>
          <p:cNvPicPr preferRelativeResize="0"/>
          <p:nvPr/>
        </p:nvPicPr>
        <p:blipFill>
          <a:blip r:embed="rId3">
            <a:alphaModFix/>
          </a:blip>
          <a:stretch>
            <a:fillRect/>
          </a:stretch>
        </p:blipFill>
        <p:spPr>
          <a:xfrm>
            <a:off x="0" y="0"/>
            <a:ext cx="9144000" cy="5143500"/>
          </a:xfrm>
          <a:prstGeom prst="rect">
            <a:avLst/>
          </a:prstGeom>
          <a:noFill/>
          <a:ln>
            <a:noFill/>
          </a:ln>
        </p:spPr>
      </p:pic>
      <p:sp>
        <p:nvSpPr>
          <p:cNvPr id="138" name="Google Shape;138;p25"/>
          <p:cNvSpPr txBox="1"/>
          <p:nvPr/>
        </p:nvSpPr>
        <p:spPr>
          <a:xfrm>
            <a:off x="1987200" y="333325"/>
            <a:ext cx="5169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800">
                <a:solidFill>
                  <a:srgbClr val="4E4545"/>
                </a:solidFill>
              </a:rPr>
              <a:t>Types of Machine Learning</a:t>
            </a:r>
            <a:endParaRPr sz="2900">
              <a:solidFill>
                <a:srgbClr val="4E4545"/>
              </a:solidFill>
            </a:endParaRPr>
          </a:p>
        </p:txBody>
      </p:sp>
      <p:sp>
        <p:nvSpPr>
          <p:cNvPr id="139" name="Google Shape;139;p25"/>
          <p:cNvSpPr txBox="1"/>
          <p:nvPr/>
        </p:nvSpPr>
        <p:spPr>
          <a:xfrm>
            <a:off x="1987200" y="1116725"/>
            <a:ext cx="6083400" cy="32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GB" sz="2100">
                <a:solidFill>
                  <a:schemeClr val="dk1"/>
                </a:solidFill>
              </a:rPr>
              <a:t>Uns</a:t>
            </a:r>
            <a:r>
              <a:rPr b="1" lang="en-GB" sz="2100">
                <a:solidFill>
                  <a:schemeClr val="dk1"/>
                </a:solidFill>
              </a:rPr>
              <a:t>upervised Learning:</a:t>
            </a:r>
            <a:endParaRPr b="1" sz="2100">
              <a:solidFill>
                <a:schemeClr val="dk1"/>
              </a:solidFill>
            </a:endParaRPr>
          </a:p>
          <a:p>
            <a:pPr indent="0" lvl="0" marL="0" rtl="0" algn="l">
              <a:lnSpc>
                <a:spcPct val="115000"/>
              </a:lnSpc>
              <a:spcBef>
                <a:spcPts val="1400"/>
              </a:spcBef>
              <a:spcAft>
                <a:spcPts val="0"/>
              </a:spcAft>
              <a:buNone/>
            </a:pPr>
            <a:r>
              <a:rPr b="1" lang="en-GB" sz="1700">
                <a:solidFill>
                  <a:schemeClr val="dk1"/>
                </a:solidFill>
              </a:rPr>
              <a:t>Definition:</a:t>
            </a:r>
            <a:r>
              <a:rPr lang="en-GB" sz="1700">
                <a:solidFill>
                  <a:schemeClr val="dk1"/>
                </a:solidFill>
              </a:rPr>
              <a:t> </a:t>
            </a:r>
            <a:r>
              <a:rPr lang="en-GB" sz="1700">
                <a:solidFill>
                  <a:schemeClr val="dk1"/>
                </a:solidFill>
              </a:rPr>
              <a:t>Learns from </a:t>
            </a:r>
            <a:r>
              <a:rPr b="1" lang="en-GB" sz="1700">
                <a:solidFill>
                  <a:schemeClr val="dk1"/>
                </a:solidFill>
              </a:rPr>
              <a:t>unlabeled data</a:t>
            </a:r>
            <a:r>
              <a:rPr lang="en-GB" sz="1700">
                <a:solidFill>
                  <a:schemeClr val="dk1"/>
                </a:solidFill>
              </a:rPr>
              <a:t> to discover hidden patterns or group similar data.</a:t>
            </a:r>
            <a:endParaRPr sz="23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b="1" lang="en-GB" sz="1600">
                <a:solidFill>
                  <a:schemeClr val="dk1"/>
                </a:solidFill>
              </a:rPr>
              <a:t>Popular Algorithms:</a:t>
            </a:r>
            <a:endParaRPr b="1"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GB" sz="1600">
                <a:solidFill>
                  <a:schemeClr val="dk1"/>
                </a:solidFill>
              </a:rPr>
              <a:t>K-Means Clustering</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DBSCAN</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Principal Component Analysis (PCA)</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600">
                <a:solidFill>
                  <a:schemeClr val="dk1"/>
                </a:solidFill>
              </a:rPr>
              <a:t>Example:</a:t>
            </a:r>
            <a:r>
              <a:rPr lang="en-GB" sz="1600">
                <a:solidFill>
                  <a:schemeClr val="dk1"/>
                </a:solidFill>
              </a:rPr>
              <a:t> Customer segmentation, anomaly detection.</a:t>
            </a:r>
            <a:endParaRPr sz="1600">
              <a:solidFill>
                <a:schemeClr val="dk1"/>
              </a:solidFill>
            </a:endParaRPr>
          </a:p>
          <a:p>
            <a:pPr indent="0" lvl="0" marL="0" rtl="0" algn="l">
              <a:lnSpc>
                <a:spcPct val="115000"/>
              </a:lnSpc>
              <a:spcBef>
                <a:spcPts val="1200"/>
              </a:spcBef>
              <a:spcAft>
                <a:spcPts val="0"/>
              </a:spcAft>
              <a:buNone/>
            </a:pPr>
            <a:r>
              <a:t/>
            </a:r>
            <a:endParaRPr b="1" sz="1600">
              <a:solidFill>
                <a:schemeClr val="dk1"/>
              </a:solidFill>
            </a:endParaRPr>
          </a:p>
          <a:p>
            <a:pPr indent="0" lvl="0" marL="0" rtl="0" algn="l">
              <a:lnSpc>
                <a:spcPct val="115000"/>
              </a:lnSpc>
              <a:spcBef>
                <a:spcPts val="1400"/>
              </a:spcBef>
              <a:spcAft>
                <a:spcPts val="400"/>
              </a:spcAft>
              <a:buNone/>
            </a:pPr>
            <a:r>
              <a:t/>
            </a:r>
            <a:endParaRPr sz="17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descr="Make this high quality and don't change anything" id="144" name="Google Shape;144;p26"/>
          <p:cNvPicPr preferRelativeResize="0"/>
          <p:nvPr/>
        </p:nvPicPr>
        <p:blipFill>
          <a:blip r:embed="rId3">
            <a:alphaModFix/>
          </a:blip>
          <a:stretch>
            <a:fillRect/>
          </a:stretch>
        </p:blipFill>
        <p:spPr>
          <a:xfrm>
            <a:off x="0" y="0"/>
            <a:ext cx="9144000" cy="5143500"/>
          </a:xfrm>
          <a:prstGeom prst="rect">
            <a:avLst/>
          </a:prstGeom>
          <a:noFill/>
          <a:ln>
            <a:noFill/>
          </a:ln>
        </p:spPr>
      </p:pic>
      <p:sp>
        <p:nvSpPr>
          <p:cNvPr id="145" name="Google Shape;145;p26"/>
          <p:cNvSpPr txBox="1"/>
          <p:nvPr/>
        </p:nvSpPr>
        <p:spPr>
          <a:xfrm>
            <a:off x="1987200" y="333325"/>
            <a:ext cx="5169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800">
                <a:solidFill>
                  <a:srgbClr val="4E4545"/>
                </a:solidFill>
              </a:rPr>
              <a:t>Types of Machine Learning</a:t>
            </a:r>
            <a:endParaRPr sz="2900">
              <a:solidFill>
                <a:srgbClr val="4E4545"/>
              </a:solidFill>
            </a:endParaRPr>
          </a:p>
        </p:txBody>
      </p:sp>
      <p:sp>
        <p:nvSpPr>
          <p:cNvPr id="146" name="Google Shape;146;p26"/>
          <p:cNvSpPr txBox="1"/>
          <p:nvPr/>
        </p:nvSpPr>
        <p:spPr>
          <a:xfrm>
            <a:off x="1987200" y="1281825"/>
            <a:ext cx="5122800" cy="378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GB" sz="2100">
                <a:solidFill>
                  <a:schemeClr val="dk1"/>
                </a:solidFill>
              </a:rPr>
              <a:t>Reinforcement Learning</a:t>
            </a:r>
            <a:endParaRPr b="1" sz="2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700">
                <a:solidFill>
                  <a:schemeClr val="dk1"/>
                </a:solidFill>
              </a:rPr>
              <a:t>Definition:</a:t>
            </a:r>
            <a:r>
              <a:rPr lang="en-GB" sz="1700">
                <a:solidFill>
                  <a:schemeClr val="dk1"/>
                </a:solidFill>
              </a:rPr>
              <a:t> Learns by </a:t>
            </a:r>
            <a:r>
              <a:rPr b="1" lang="en-GB" sz="1700">
                <a:solidFill>
                  <a:schemeClr val="dk1"/>
                </a:solidFill>
              </a:rPr>
              <a:t>interacting with an environment</a:t>
            </a:r>
            <a:r>
              <a:rPr lang="en-GB" sz="1700">
                <a:solidFill>
                  <a:schemeClr val="dk1"/>
                </a:solidFill>
              </a:rPr>
              <a:t> and receiving rewards or penalties for its actions.</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600">
                <a:solidFill>
                  <a:schemeClr val="dk1"/>
                </a:solidFill>
              </a:rPr>
              <a:t>Popular Algorithms:</a:t>
            </a:r>
            <a:endParaRPr b="1"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GB" sz="1600">
                <a:solidFill>
                  <a:schemeClr val="dk1"/>
                </a:solidFill>
              </a:rPr>
              <a:t>Q-Learning</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Deep Q Network (DQN)</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Proximal Policy Optimization (PPO)</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600">
                <a:solidFill>
                  <a:schemeClr val="dk1"/>
                </a:solidFill>
              </a:rPr>
              <a:t>Example:</a:t>
            </a:r>
            <a:r>
              <a:rPr lang="en-GB" sz="1600">
                <a:solidFill>
                  <a:schemeClr val="dk1"/>
                </a:solidFill>
              </a:rPr>
              <a:t> Self-driving cars, robotics</a:t>
            </a:r>
            <a:endParaRPr sz="1600">
              <a:solidFill>
                <a:schemeClr val="dk1"/>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descr="Make this high quality and don't change anything" id="151" name="Google Shape;151;p27"/>
          <p:cNvPicPr preferRelativeResize="0"/>
          <p:nvPr/>
        </p:nvPicPr>
        <p:blipFill>
          <a:blip r:embed="rId3">
            <a:alphaModFix/>
          </a:blip>
          <a:stretch>
            <a:fillRect/>
          </a:stretch>
        </p:blipFill>
        <p:spPr>
          <a:xfrm>
            <a:off x="0" y="0"/>
            <a:ext cx="9144000" cy="5143500"/>
          </a:xfrm>
          <a:prstGeom prst="rect">
            <a:avLst/>
          </a:prstGeom>
          <a:noFill/>
          <a:ln>
            <a:noFill/>
          </a:ln>
        </p:spPr>
      </p:pic>
      <p:pic>
        <p:nvPicPr>
          <p:cNvPr descr="Create a image with of machine learning types" id="152" name="Google Shape;152;p27"/>
          <p:cNvPicPr preferRelativeResize="0"/>
          <p:nvPr/>
        </p:nvPicPr>
        <p:blipFill>
          <a:blip r:embed="rId4">
            <a:alphaModFix/>
          </a:blip>
          <a:stretch>
            <a:fillRect/>
          </a:stretch>
        </p:blipFill>
        <p:spPr>
          <a:xfrm>
            <a:off x="2133600" y="948925"/>
            <a:ext cx="4907846" cy="4061225"/>
          </a:xfrm>
          <a:prstGeom prst="rect">
            <a:avLst/>
          </a:prstGeom>
          <a:noFill/>
          <a:ln>
            <a:noFill/>
          </a:ln>
        </p:spPr>
      </p:pic>
      <p:sp>
        <p:nvSpPr>
          <p:cNvPr id="153" name="Google Shape;153;p27"/>
          <p:cNvSpPr txBox="1"/>
          <p:nvPr/>
        </p:nvSpPr>
        <p:spPr>
          <a:xfrm>
            <a:off x="1987200" y="333325"/>
            <a:ext cx="5169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800">
                <a:solidFill>
                  <a:srgbClr val="4E4545"/>
                </a:solidFill>
              </a:rPr>
              <a:t>Types of Machine Learning</a:t>
            </a:r>
            <a:endParaRPr sz="2900">
              <a:solidFill>
                <a:srgbClr val="4E4545"/>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descr="Make this high quality and don't change anything" id="158" name="Google Shape;158;p28"/>
          <p:cNvPicPr preferRelativeResize="0"/>
          <p:nvPr/>
        </p:nvPicPr>
        <p:blipFill>
          <a:blip r:embed="rId3">
            <a:alphaModFix/>
          </a:blip>
          <a:stretch>
            <a:fillRect/>
          </a:stretch>
        </p:blipFill>
        <p:spPr>
          <a:xfrm>
            <a:off x="0" y="0"/>
            <a:ext cx="9144000" cy="5143500"/>
          </a:xfrm>
          <a:prstGeom prst="rect">
            <a:avLst/>
          </a:prstGeom>
          <a:noFill/>
          <a:ln>
            <a:noFill/>
          </a:ln>
        </p:spPr>
      </p:pic>
      <p:sp>
        <p:nvSpPr>
          <p:cNvPr id="159" name="Google Shape;159;p28"/>
          <p:cNvSpPr txBox="1"/>
          <p:nvPr/>
        </p:nvSpPr>
        <p:spPr>
          <a:xfrm>
            <a:off x="1987200" y="333325"/>
            <a:ext cx="49053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800">
                <a:solidFill>
                  <a:srgbClr val="4E4545"/>
                </a:solidFill>
              </a:rPr>
              <a:t>Deep Learning and Neural Networks</a:t>
            </a:r>
            <a:endParaRPr sz="4300">
              <a:solidFill>
                <a:srgbClr val="4E4545"/>
              </a:solidFill>
            </a:endParaRPr>
          </a:p>
        </p:txBody>
      </p:sp>
      <p:sp>
        <p:nvSpPr>
          <p:cNvPr id="160" name="Google Shape;160;p28"/>
          <p:cNvSpPr txBox="1"/>
          <p:nvPr/>
        </p:nvSpPr>
        <p:spPr>
          <a:xfrm>
            <a:off x="1987200" y="1256725"/>
            <a:ext cx="6725100" cy="3718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700">
                <a:solidFill>
                  <a:schemeClr val="dk1"/>
                </a:solidFill>
              </a:rPr>
              <a:t>What is Deep Learning?</a:t>
            </a:r>
            <a:endParaRPr b="1" sz="1700">
              <a:solidFill>
                <a:schemeClr val="dk1"/>
              </a:solidFill>
            </a:endParaRPr>
          </a:p>
          <a:p>
            <a:pPr indent="-323850" lvl="0" marL="457200" rtl="0" algn="l">
              <a:lnSpc>
                <a:spcPct val="115000"/>
              </a:lnSpc>
              <a:spcBef>
                <a:spcPts val="1200"/>
              </a:spcBef>
              <a:spcAft>
                <a:spcPts val="0"/>
              </a:spcAft>
              <a:buClr>
                <a:schemeClr val="dk1"/>
              </a:buClr>
              <a:buSzPts val="1500"/>
              <a:buChar char="●"/>
            </a:pPr>
            <a:r>
              <a:rPr b="1" lang="en-GB" sz="1500">
                <a:solidFill>
                  <a:schemeClr val="dk1"/>
                </a:solidFill>
              </a:rPr>
              <a:t>Deep Learning</a:t>
            </a:r>
            <a:r>
              <a:rPr lang="en-GB" sz="1500">
                <a:solidFill>
                  <a:schemeClr val="dk1"/>
                </a:solidFill>
              </a:rPr>
              <a:t> is a subset of Machine Learning that uses </a:t>
            </a:r>
            <a:r>
              <a:rPr b="1" lang="en-GB" sz="1500">
                <a:solidFill>
                  <a:schemeClr val="dk1"/>
                </a:solidFill>
              </a:rPr>
              <a:t>Artificial Neural Networks (ANNs)</a:t>
            </a:r>
            <a:r>
              <a:rPr lang="en-GB" sz="1500">
                <a:solidFill>
                  <a:schemeClr val="dk1"/>
                </a:solidFill>
              </a:rPr>
              <a:t> with multiple hidden layers to learn complex patterns from large amounts of data.</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GB" sz="1500">
                <a:solidFill>
                  <a:schemeClr val="dk1"/>
                </a:solidFill>
              </a:rPr>
              <a:t>It can automatically extract features without manual programming.</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GB" sz="1500">
                <a:solidFill>
                  <a:schemeClr val="dk1"/>
                </a:solidFill>
              </a:rPr>
              <a:t>Deep Learning excels at tasks involving </a:t>
            </a:r>
            <a:r>
              <a:rPr b="1" lang="en-GB" sz="1500">
                <a:solidFill>
                  <a:schemeClr val="dk1"/>
                </a:solidFill>
              </a:rPr>
              <a:t>images, speech, text, and video</a:t>
            </a:r>
            <a:r>
              <a:rPr lang="en-GB" sz="1500">
                <a:solidFill>
                  <a:schemeClr val="dk1"/>
                </a:solidFill>
              </a:rPr>
              <a:t>.</a:t>
            </a:r>
            <a:endParaRPr sz="1500">
              <a:solidFill>
                <a:schemeClr val="dk1"/>
              </a:solidFill>
            </a:endParaRPr>
          </a:p>
          <a:p>
            <a:pPr indent="0" lvl="0" marL="0" rtl="0" algn="l">
              <a:lnSpc>
                <a:spcPct val="115000"/>
              </a:lnSpc>
              <a:spcBef>
                <a:spcPts val="1400"/>
              </a:spcBef>
              <a:spcAft>
                <a:spcPts val="0"/>
              </a:spcAft>
              <a:buNone/>
            </a:pPr>
            <a:r>
              <a:rPr b="1" lang="en-GB" sz="1700">
                <a:solidFill>
                  <a:schemeClr val="dk1"/>
                </a:solidFill>
              </a:rPr>
              <a:t>What is a Neural Network?</a:t>
            </a:r>
            <a:endParaRPr b="1" sz="17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GB" sz="1500">
                <a:solidFill>
                  <a:schemeClr val="dk1"/>
                </a:solidFill>
              </a:rPr>
              <a:t>A </a:t>
            </a:r>
            <a:r>
              <a:rPr b="1" lang="en-GB" sz="1500">
                <a:solidFill>
                  <a:schemeClr val="dk1"/>
                </a:solidFill>
              </a:rPr>
              <a:t>Neural Network</a:t>
            </a:r>
            <a:r>
              <a:rPr lang="en-GB" sz="1500">
                <a:solidFill>
                  <a:schemeClr val="dk1"/>
                </a:solidFill>
              </a:rPr>
              <a:t> is a computational model inspired by the structure of the </a:t>
            </a:r>
            <a:r>
              <a:rPr b="1" lang="en-GB" sz="1500">
                <a:solidFill>
                  <a:schemeClr val="dk1"/>
                </a:solidFill>
              </a:rPr>
              <a:t>human brain</a:t>
            </a:r>
            <a:r>
              <a:rPr lang="en-GB" sz="1500">
                <a:solidFill>
                  <a:schemeClr val="dk1"/>
                </a:solidFill>
              </a:rPr>
              <a:t>.</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GB" sz="1500">
                <a:solidFill>
                  <a:schemeClr val="dk1"/>
                </a:solidFill>
              </a:rPr>
              <a:t>It consists of interconnected </a:t>
            </a:r>
            <a:r>
              <a:rPr b="1" lang="en-GB" sz="1500">
                <a:solidFill>
                  <a:schemeClr val="dk1"/>
                </a:solidFill>
              </a:rPr>
              <a:t>neurons (nodes)</a:t>
            </a:r>
            <a:r>
              <a:rPr lang="en-GB" sz="1500">
                <a:solidFill>
                  <a:schemeClr val="dk1"/>
                </a:solidFill>
              </a:rPr>
              <a:t> that process information.</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GB" sz="1500">
                <a:solidFill>
                  <a:schemeClr val="dk1"/>
                </a:solidFill>
              </a:rPr>
              <a:t>Each neuron receives input, performs calculations, and passes the output to the next layer.</a:t>
            </a:r>
            <a:endParaRPr sz="22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descr="Make this high quality and don't change anything" id="165" name="Google Shape;165;p29"/>
          <p:cNvPicPr preferRelativeResize="0"/>
          <p:nvPr/>
        </p:nvPicPr>
        <p:blipFill>
          <a:blip r:embed="rId3">
            <a:alphaModFix/>
          </a:blip>
          <a:stretch>
            <a:fillRect/>
          </a:stretch>
        </p:blipFill>
        <p:spPr>
          <a:xfrm>
            <a:off x="0" y="0"/>
            <a:ext cx="9144000" cy="5143500"/>
          </a:xfrm>
          <a:prstGeom prst="rect">
            <a:avLst/>
          </a:prstGeom>
          <a:noFill/>
          <a:ln>
            <a:noFill/>
          </a:ln>
        </p:spPr>
      </p:pic>
      <p:sp>
        <p:nvSpPr>
          <p:cNvPr id="166" name="Google Shape;166;p29"/>
          <p:cNvSpPr txBox="1"/>
          <p:nvPr/>
        </p:nvSpPr>
        <p:spPr>
          <a:xfrm>
            <a:off x="1987200" y="333325"/>
            <a:ext cx="51696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800">
                <a:solidFill>
                  <a:srgbClr val="4E4545"/>
                </a:solidFill>
              </a:rPr>
              <a:t>Deep Learning and Neural Networks</a:t>
            </a:r>
            <a:endParaRPr sz="4300">
              <a:solidFill>
                <a:srgbClr val="4E4545"/>
              </a:solidFill>
            </a:endParaRPr>
          </a:p>
        </p:txBody>
      </p:sp>
      <p:pic>
        <p:nvPicPr>
          <p:cNvPr descr="Create image of neural network in simpledrawing" id="167" name="Google Shape;167;p29"/>
          <p:cNvPicPr preferRelativeResize="0"/>
          <p:nvPr/>
        </p:nvPicPr>
        <p:blipFill rotWithShape="1">
          <a:blip r:embed="rId4">
            <a:alphaModFix/>
          </a:blip>
          <a:srcRect b="0" l="-1061" r="0" t="0"/>
          <a:stretch/>
        </p:blipFill>
        <p:spPr>
          <a:xfrm>
            <a:off x="1541163" y="1296025"/>
            <a:ext cx="6061676" cy="37117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descr="Make this high quality and don't change anything" id="172" name="Google Shape;172;p30"/>
          <p:cNvPicPr preferRelativeResize="0"/>
          <p:nvPr/>
        </p:nvPicPr>
        <p:blipFill>
          <a:blip r:embed="rId3">
            <a:alphaModFix/>
          </a:blip>
          <a:stretch>
            <a:fillRect/>
          </a:stretch>
        </p:blipFill>
        <p:spPr>
          <a:xfrm>
            <a:off x="0" y="0"/>
            <a:ext cx="9144000" cy="5143500"/>
          </a:xfrm>
          <a:prstGeom prst="rect">
            <a:avLst/>
          </a:prstGeom>
          <a:noFill/>
          <a:ln>
            <a:noFill/>
          </a:ln>
        </p:spPr>
      </p:pic>
      <p:sp>
        <p:nvSpPr>
          <p:cNvPr id="173" name="Google Shape;173;p30"/>
          <p:cNvSpPr txBox="1"/>
          <p:nvPr/>
        </p:nvSpPr>
        <p:spPr>
          <a:xfrm>
            <a:off x="1987200" y="333325"/>
            <a:ext cx="51696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800">
                <a:solidFill>
                  <a:srgbClr val="4E4545"/>
                </a:solidFill>
              </a:rPr>
              <a:t>Deep Learning and Neural Networks</a:t>
            </a:r>
            <a:endParaRPr sz="4300">
              <a:solidFill>
                <a:srgbClr val="4E4545"/>
              </a:solidFill>
            </a:endParaRPr>
          </a:p>
        </p:txBody>
      </p:sp>
      <p:sp>
        <p:nvSpPr>
          <p:cNvPr id="174" name="Google Shape;174;p30"/>
          <p:cNvSpPr txBox="1"/>
          <p:nvPr/>
        </p:nvSpPr>
        <p:spPr>
          <a:xfrm>
            <a:off x="1987200" y="1789500"/>
            <a:ext cx="6603300" cy="330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800">
                <a:solidFill>
                  <a:schemeClr val="dk1"/>
                </a:solidFill>
              </a:rPr>
              <a:t>Popular Deep Learning Algorithms:</a:t>
            </a:r>
            <a:endParaRPr b="1" sz="1800">
              <a:solidFill>
                <a:schemeClr val="dk1"/>
              </a:solidFill>
            </a:endParaRPr>
          </a:p>
          <a:p>
            <a:pPr indent="-330200" lvl="0" marL="457200" rtl="0" algn="l">
              <a:lnSpc>
                <a:spcPct val="115000"/>
              </a:lnSpc>
              <a:spcBef>
                <a:spcPts val="1200"/>
              </a:spcBef>
              <a:spcAft>
                <a:spcPts val="0"/>
              </a:spcAft>
              <a:buClr>
                <a:schemeClr val="dk1"/>
              </a:buClr>
              <a:buSzPts val="1600"/>
              <a:buChar char="●"/>
            </a:pPr>
            <a:r>
              <a:rPr b="1" lang="en-GB" sz="1600">
                <a:solidFill>
                  <a:schemeClr val="dk1"/>
                </a:solidFill>
              </a:rPr>
              <a:t>Convolutional Neural Network (CNN)</a:t>
            </a:r>
            <a:r>
              <a:rPr lang="en-GB" sz="1600">
                <a:solidFill>
                  <a:schemeClr val="dk1"/>
                </a:solidFill>
              </a:rPr>
              <a:t> – Image Recognition</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GB" sz="1600">
                <a:solidFill>
                  <a:schemeClr val="dk1"/>
                </a:solidFill>
              </a:rPr>
              <a:t>Recurrent Neural Network (RNN)</a:t>
            </a:r>
            <a:r>
              <a:rPr lang="en-GB" sz="1600">
                <a:solidFill>
                  <a:schemeClr val="dk1"/>
                </a:solidFill>
              </a:rPr>
              <a:t> – Sequential Data &amp; Time Series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GB" sz="1600">
                <a:solidFill>
                  <a:schemeClr val="dk1"/>
                </a:solidFill>
              </a:rPr>
              <a:t>Long Short-Term Memory (LSTM)</a:t>
            </a:r>
            <a:r>
              <a:rPr lang="en-GB" sz="1600">
                <a:solidFill>
                  <a:schemeClr val="dk1"/>
                </a:solidFill>
              </a:rPr>
              <a:t> – Language &amp; Speech Processing</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GB" sz="1600">
                <a:solidFill>
                  <a:schemeClr val="dk1"/>
                </a:solidFill>
              </a:rPr>
              <a:t>Transformer</a:t>
            </a:r>
            <a:r>
              <a:rPr lang="en-GB" sz="1600">
                <a:solidFill>
                  <a:schemeClr val="dk1"/>
                </a:solidFill>
              </a:rPr>
              <a:t> – Natural Language Processing (ChatGPT, Gemini, Claude)</a:t>
            </a:r>
            <a:endParaRPr sz="1600">
              <a:solidFill>
                <a:schemeClr val="dk1"/>
              </a:solidFill>
            </a:endParaRPr>
          </a:p>
          <a:p>
            <a:pPr indent="0" lvl="0" marL="0" rtl="0" algn="l">
              <a:spcBef>
                <a:spcPts val="1200"/>
              </a:spcBef>
              <a:spcAft>
                <a:spcPts val="0"/>
              </a:spcAft>
              <a:buNone/>
            </a:pPr>
            <a:r>
              <a:t/>
            </a:r>
            <a:endParaRPr sz="23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pic>
        <p:nvPicPr>
          <p:cNvPr descr="Make this high quality and don't change anything" id="179" name="Google Shape;179;p31"/>
          <p:cNvPicPr preferRelativeResize="0"/>
          <p:nvPr/>
        </p:nvPicPr>
        <p:blipFill>
          <a:blip r:embed="rId3">
            <a:alphaModFix/>
          </a:blip>
          <a:stretch>
            <a:fillRect/>
          </a:stretch>
        </p:blipFill>
        <p:spPr>
          <a:xfrm>
            <a:off x="0" y="0"/>
            <a:ext cx="9144000" cy="5143500"/>
          </a:xfrm>
          <a:prstGeom prst="rect">
            <a:avLst/>
          </a:prstGeom>
          <a:noFill/>
          <a:ln>
            <a:noFill/>
          </a:ln>
        </p:spPr>
      </p:pic>
      <p:sp>
        <p:nvSpPr>
          <p:cNvPr id="180" name="Google Shape;180;p31"/>
          <p:cNvSpPr txBox="1"/>
          <p:nvPr/>
        </p:nvSpPr>
        <p:spPr>
          <a:xfrm>
            <a:off x="1987200" y="333325"/>
            <a:ext cx="51696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800">
                <a:solidFill>
                  <a:srgbClr val="4E4545"/>
                </a:solidFill>
              </a:rPr>
              <a:t>Deep Learning and Neural Networks</a:t>
            </a:r>
            <a:endParaRPr sz="4300">
              <a:solidFill>
                <a:srgbClr val="4E4545"/>
              </a:solidFill>
            </a:endParaRPr>
          </a:p>
        </p:txBody>
      </p:sp>
      <p:sp>
        <p:nvSpPr>
          <p:cNvPr id="181" name="Google Shape;181;p31"/>
          <p:cNvSpPr txBox="1"/>
          <p:nvPr/>
        </p:nvSpPr>
        <p:spPr>
          <a:xfrm>
            <a:off x="1987200" y="1418475"/>
            <a:ext cx="6327900" cy="3342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500">
                <a:solidFill>
                  <a:schemeClr val="dk1"/>
                </a:solidFill>
              </a:rPr>
              <a:t>Advantages:</a:t>
            </a:r>
            <a:endParaRPr b="1" sz="1500">
              <a:solidFill>
                <a:schemeClr val="dk1"/>
              </a:solidFill>
            </a:endParaRPr>
          </a:p>
          <a:p>
            <a:pPr indent="-311150" lvl="0" marL="457200" rtl="0" algn="l">
              <a:lnSpc>
                <a:spcPct val="115000"/>
              </a:lnSpc>
              <a:spcBef>
                <a:spcPts val="1200"/>
              </a:spcBef>
              <a:spcAft>
                <a:spcPts val="0"/>
              </a:spcAft>
              <a:buClr>
                <a:schemeClr val="dk1"/>
              </a:buClr>
              <a:buSzPts val="1300"/>
              <a:buChar char="●"/>
            </a:pPr>
            <a:r>
              <a:rPr lang="en-GB" sz="1300">
                <a:solidFill>
                  <a:schemeClr val="dk1"/>
                </a:solidFill>
              </a:rPr>
              <a:t>Learns complex features automatically.</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High accuracy on large datasets.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Handles images, audio, text, and video effectively.</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Powers modern AI applications such as ChatGPT and autonomous vehicles.</a:t>
            </a:r>
            <a:endParaRPr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500">
                <a:solidFill>
                  <a:schemeClr val="dk1"/>
                </a:solidFill>
              </a:rPr>
              <a:t>Limitations:</a:t>
            </a:r>
            <a:endParaRPr b="1" sz="1500">
              <a:solidFill>
                <a:schemeClr val="dk1"/>
              </a:solidFill>
            </a:endParaRPr>
          </a:p>
          <a:p>
            <a:pPr indent="-311150" lvl="0" marL="457200" rtl="0" algn="l">
              <a:lnSpc>
                <a:spcPct val="115000"/>
              </a:lnSpc>
              <a:spcBef>
                <a:spcPts val="1200"/>
              </a:spcBef>
              <a:spcAft>
                <a:spcPts val="0"/>
              </a:spcAft>
              <a:buClr>
                <a:schemeClr val="dk1"/>
              </a:buClr>
              <a:buSzPts val="1300"/>
              <a:buChar char="●"/>
            </a:pPr>
            <a:r>
              <a:rPr lang="en-GB" sz="1300">
                <a:solidFill>
                  <a:schemeClr val="dk1"/>
                </a:solidFill>
              </a:rPr>
              <a:t>Requires large amounts of training data.</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Computationally expensive.</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Training can take hours or days.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Often difficult to interpret ("black box" models).</a:t>
            </a:r>
            <a:endParaRPr sz="1300">
              <a:solidFill>
                <a:schemeClr val="dk1"/>
              </a:solidFill>
            </a:endParaRPr>
          </a:p>
          <a:p>
            <a:pPr indent="0" lvl="0" marL="0" rtl="0" algn="l">
              <a:spcBef>
                <a:spcPts val="1200"/>
              </a:spcBef>
              <a:spcAft>
                <a:spcPts val="0"/>
              </a:spcAft>
              <a:buNone/>
            </a:pPr>
            <a:r>
              <a:t/>
            </a:r>
            <a:endParaRPr sz="2000">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descr="Make this high quality and don't change anything" id="186" name="Google Shape;186;p32"/>
          <p:cNvPicPr preferRelativeResize="0"/>
          <p:nvPr/>
        </p:nvPicPr>
        <p:blipFill>
          <a:blip r:embed="rId3">
            <a:alphaModFix/>
          </a:blip>
          <a:stretch>
            <a:fillRect/>
          </a:stretch>
        </p:blipFill>
        <p:spPr>
          <a:xfrm>
            <a:off x="0" y="0"/>
            <a:ext cx="9144000" cy="5143500"/>
          </a:xfrm>
          <a:prstGeom prst="rect">
            <a:avLst/>
          </a:prstGeom>
          <a:noFill/>
          <a:ln>
            <a:noFill/>
          </a:ln>
        </p:spPr>
      </p:pic>
      <p:sp>
        <p:nvSpPr>
          <p:cNvPr id="187" name="Google Shape;187;p32"/>
          <p:cNvSpPr txBox="1"/>
          <p:nvPr/>
        </p:nvSpPr>
        <p:spPr>
          <a:xfrm>
            <a:off x="1987200" y="1473975"/>
            <a:ext cx="6830400" cy="3415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GB" sz="1900">
                <a:solidFill>
                  <a:schemeClr val="dk1"/>
                </a:solidFill>
              </a:rPr>
              <a:t>Use Case: Face Recognition (Face ID) </a:t>
            </a:r>
            <a:endParaRPr b="1" sz="19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500">
                <a:solidFill>
                  <a:schemeClr val="dk1"/>
                </a:solidFill>
              </a:rPr>
              <a:t>Application:</a:t>
            </a:r>
            <a:endParaRPr b="1"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300">
                <a:solidFill>
                  <a:schemeClr val="dk1"/>
                </a:solidFill>
              </a:rPr>
              <a:t>Deep Learning powers </a:t>
            </a:r>
            <a:r>
              <a:rPr b="1" lang="en-GB" sz="1300">
                <a:solidFill>
                  <a:schemeClr val="dk1"/>
                </a:solidFill>
              </a:rPr>
              <a:t>Face Recognition</a:t>
            </a:r>
            <a:r>
              <a:rPr lang="en-GB" sz="1300">
                <a:solidFill>
                  <a:schemeClr val="dk1"/>
                </a:solidFill>
              </a:rPr>
              <a:t> systems used in smartphones, airports, and security systems.</a:t>
            </a:r>
            <a:endParaRPr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500">
                <a:solidFill>
                  <a:schemeClr val="dk1"/>
                </a:solidFill>
              </a:rPr>
              <a:t>How It Works:</a:t>
            </a:r>
            <a:endParaRPr b="1" sz="1500">
              <a:solidFill>
                <a:schemeClr val="dk1"/>
              </a:solidFill>
            </a:endParaRPr>
          </a:p>
          <a:p>
            <a:pPr indent="-311150" lvl="0" marL="457200" rtl="0" algn="l">
              <a:lnSpc>
                <a:spcPct val="115000"/>
              </a:lnSpc>
              <a:spcBef>
                <a:spcPts val="1200"/>
              </a:spcBef>
              <a:spcAft>
                <a:spcPts val="0"/>
              </a:spcAft>
              <a:buClr>
                <a:schemeClr val="dk1"/>
              </a:buClr>
              <a:buSzPts val="1300"/>
              <a:buChar char="●"/>
            </a:pPr>
            <a:r>
              <a:rPr lang="en-GB" sz="1300">
                <a:solidFill>
                  <a:schemeClr val="dk1"/>
                </a:solidFill>
              </a:rPr>
              <a:t>A </a:t>
            </a:r>
            <a:r>
              <a:rPr b="1" lang="en-GB" sz="1300">
                <a:solidFill>
                  <a:schemeClr val="dk1"/>
                </a:solidFill>
              </a:rPr>
              <a:t>Convolutional Neural Network (CNN)</a:t>
            </a:r>
            <a:r>
              <a:rPr lang="en-GB" sz="1300">
                <a:solidFill>
                  <a:schemeClr val="dk1"/>
                </a:solidFill>
              </a:rPr>
              <a:t> is trained on millions of facial images.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The model learns unique facial features such as the eyes, nose, mouth, and facial structure.</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When a user looks at the camera, the system compares the captured face with the stored face and verifies the identity.</a:t>
            </a:r>
            <a:endParaRPr sz="1300">
              <a:solidFill>
                <a:schemeClr val="dk1"/>
              </a:solidFill>
            </a:endParaRPr>
          </a:p>
          <a:p>
            <a:pPr indent="0" lvl="0" marL="0" rtl="0" algn="l">
              <a:spcBef>
                <a:spcPts val="1200"/>
              </a:spcBef>
              <a:spcAft>
                <a:spcPts val="0"/>
              </a:spcAft>
              <a:buNone/>
            </a:pPr>
            <a:r>
              <a:t/>
            </a:r>
            <a:endParaRPr sz="2000">
              <a:solidFill>
                <a:schemeClr val="dk2"/>
              </a:solidFill>
            </a:endParaRPr>
          </a:p>
        </p:txBody>
      </p:sp>
      <p:sp>
        <p:nvSpPr>
          <p:cNvPr id="188" name="Google Shape;188;p32"/>
          <p:cNvSpPr txBox="1"/>
          <p:nvPr/>
        </p:nvSpPr>
        <p:spPr>
          <a:xfrm>
            <a:off x="1987200" y="333325"/>
            <a:ext cx="51696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800">
                <a:solidFill>
                  <a:srgbClr val="4E4545"/>
                </a:solidFill>
              </a:rPr>
              <a:t>Deep Learning and Neural Networks</a:t>
            </a:r>
            <a:endParaRPr sz="4300">
              <a:solidFill>
                <a:srgbClr val="4E4545"/>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descr="Make this high quality and don't change anything" id="193" name="Google Shape;193;p33"/>
          <p:cNvPicPr preferRelativeResize="0"/>
          <p:nvPr/>
        </p:nvPicPr>
        <p:blipFill>
          <a:blip r:embed="rId3">
            <a:alphaModFix/>
          </a:blip>
          <a:stretch>
            <a:fillRect/>
          </a:stretch>
        </p:blipFill>
        <p:spPr>
          <a:xfrm>
            <a:off x="0" y="0"/>
            <a:ext cx="9144000" cy="5143500"/>
          </a:xfrm>
          <a:prstGeom prst="rect">
            <a:avLst/>
          </a:prstGeom>
          <a:noFill/>
          <a:ln>
            <a:noFill/>
          </a:ln>
        </p:spPr>
      </p:pic>
      <p:sp>
        <p:nvSpPr>
          <p:cNvPr id="194" name="Google Shape;194;p33"/>
          <p:cNvSpPr txBox="1"/>
          <p:nvPr/>
        </p:nvSpPr>
        <p:spPr>
          <a:xfrm>
            <a:off x="1987200" y="333325"/>
            <a:ext cx="51696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800">
                <a:solidFill>
                  <a:srgbClr val="4E4545"/>
                </a:solidFill>
              </a:rPr>
              <a:t>Computer Vision and Natural Language Processing</a:t>
            </a:r>
            <a:endParaRPr b="1" sz="2800">
              <a:solidFill>
                <a:srgbClr val="4E4545"/>
              </a:solidFill>
            </a:endParaRPr>
          </a:p>
        </p:txBody>
      </p:sp>
      <p:sp>
        <p:nvSpPr>
          <p:cNvPr id="195" name="Google Shape;195;p33"/>
          <p:cNvSpPr txBox="1"/>
          <p:nvPr/>
        </p:nvSpPr>
        <p:spPr>
          <a:xfrm>
            <a:off x="803850" y="1438850"/>
            <a:ext cx="7536300" cy="330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GB" sz="1800">
                <a:solidFill>
                  <a:schemeClr val="dk1"/>
                </a:solidFill>
              </a:rPr>
              <a:t>Computer Vision: </a:t>
            </a:r>
            <a:endParaRPr b="1"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600">
                <a:solidFill>
                  <a:schemeClr val="dk1"/>
                </a:solidFill>
              </a:rPr>
              <a:t>Definition:</a:t>
            </a:r>
            <a:endParaRPr b="1"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GB" sz="1600">
                <a:solidFill>
                  <a:schemeClr val="dk1"/>
                </a:solidFill>
              </a:rPr>
              <a:t>Computer Vision is a field of AI that enables computers to </a:t>
            </a:r>
            <a:r>
              <a:rPr b="1" lang="en-GB" sz="1600">
                <a:solidFill>
                  <a:schemeClr val="dk1"/>
                </a:solidFill>
              </a:rPr>
              <a:t>understand, analyze, and interpret images and videos</a:t>
            </a:r>
            <a:r>
              <a:rPr lang="en-GB" sz="1600">
                <a:solidFill>
                  <a:schemeClr val="dk1"/>
                </a:solidFill>
              </a:rPr>
              <a:t>.</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600">
                <a:solidFill>
                  <a:schemeClr val="dk1"/>
                </a:solidFill>
              </a:rPr>
              <a:t>Key Applications:</a:t>
            </a:r>
            <a:endParaRPr b="1"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GB" sz="1600">
                <a:solidFill>
                  <a:schemeClr val="dk1"/>
                </a:solidFill>
              </a:rPr>
              <a:t>Face Recognition</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Object Detection</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Medical Image Analysis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Autonomous Vehicles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Quality Inspection in Manufacturing</a:t>
            </a:r>
            <a:endParaRPr sz="2300">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descr="Make this high quality and don't change anything" id="200" name="Google Shape;200;p34"/>
          <p:cNvPicPr preferRelativeResize="0"/>
          <p:nvPr/>
        </p:nvPicPr>
        <p:blipFill>
          <a:blip r:embed="rId3">
            <a:alphaModFix/>
          </a:blip>
          <a:stretch>
            <a:fillRect/>
          </a:stretch>
        </p:blipFill>
        <p:spPr>
          <a:xfrm>
            <a:off x="0" y="0"/>
            <a:ext cx="9144000" cy="5143500"/>
          </a:xfrm>
          <a:prstGeom prst="rect">
            <a:avLst/>
          </a:prstGeom>
          <a:noFill/>
          <a:ln>
            <a:noFill/>
          </a:ln>
        </p:spPr>
      </p:pic>
      <p:sp>
        <p:nvSpPr>
          <p:cNvPr id="201" name="Google Shape;201;p34"/>
          <p:cNvSpPr txBox="1"/>
          <p:nvPr/>
        </p:nvSpPr>
        <p:spPr>
          <a:xfrm>
            <a:off x="1987200" y="333325"/>
            <a:ext cx="51696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800">
                <a:solidFill>
                  <a:srgbClr val="4E4545"/>
                </a:solidFill>
              </a:rPr>
              <a:t>Computer Vision and Natural Language Processing</a:t>
            </a:r>
            <a:endParaRPr b="1" sz="2800">
              <a:solidFill>
                <a:srgbClr val="4E4545"/>
              </a:solidFill>
            </a:endParaRPr>
          </a:p>
        </p:txBody>
      </p:sp>
      <p:sp>
        <p:nvSpPr>
          <p:cNvPr id="202" name="Google Shape;202;p34"/>
          <p:cNvSpPr txBox="1"/>
          <p:nvPr/>
        </p:nvSpPr>
        <p:spPr>
          <a:xfrm>
            <a:off x="1886650" y="1645650"/>
            <a:ext cx="6155700" cy="3229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GB" sz="1700">
                <a:solidFill>
                  <a:schemeClr val="dk1"/>
                </a:solidFill>
              </a:rPr>
              <a:t>Popular Algorithms/Models:</a:t>
            </a:r>
            <a:endParaRPr b="1" sz="1700">
              <a:solidFill>
                <a:schemeClr val="dk1"/>
              </a:solidFill>
            </a:endParaRPr>
          </a:p>
          <a:p>
            <a:pPr indent="-336550" lvl="0" marL="457200" rtl="0" algn="l">
              <a:lnSpc>
                <a:spcPct val="115000"/>
              </a:lnSpc>
              <a:spcBef>
                <a:spcPts val="1200"/>
              </a:spcBef>
              <a:spcAft>
                <a:spcPts val="0"/>
              </a:spcAft>
              <a:buClr>
                <a:schemeClr val="dk1"/>
              </a:buClr>
              <a:buSzPts val="1700"/>
              <a:buChar char="●"/>
            </a:pPr>
            <a:r>
              <a:rPr lang="en-GB" sz="1700">
                <a:solidFill>
                  <a:schemeClr val="dk1"/>
                </a:solidFill>
              </a:rPr>
              <a:t>Convolutional Neural Network (CNN)</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GB" sz="1700">
                <a:solidFill>
                  <a:schemeClr val="dk1"/>
                </a:solidFill>
              </a:rPr>
              <a:t>YOLO (You Only Look Once)</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GB" sz="1700">
                <a:solidFill>
                  <a:schemeClr val="dk1"/>
                </a:solidFill>
              </a:rPr>
              <a:t>Vision Transformer (ViT)</a:t>
            </a:r>
            <a:endParaRPr sz="1700">
              <a:solidFill>
                <a:schemeClr val="dk1"/>
              </a:solidFill>
            </a:endParaRPr>
          </a:p>
          <a:p>
            <a:pPr indent="0" lvl="0" marL="0" rtl="0" algn="l">
              <a:spcBef>
                <a:spcPts val="1200"/>
              </a:spcBef>
              <a:spcAft>
                <a:spcPts val="0"/>
              </a:spcAft>
              <a:buNone/>
            </a:pPr>
            <a:r>
              <a:t/>
            </a:r>
            <a:endParaRPr sz="2400">
              <a:solidFill>
                <a:schemeClr val="dk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descr="Make this high quality and don't change anything" id="207" name="Google Shape;207;p35"/>
          <p:cNvPicPr preferRelativeResize="0"/>
          <p:nvPr/>
        </p:nvPicPr>
        <p:blipFill>
          <a:blip r:embed="rId3">
            <a:alphaModFix/>
          </a:blip>
          <a:stretch>
            <a:fillRect/>
          </a:stretch>
        </p:blipFill>
        <p:spPr>
          <a:xfrm>
            <a:off x="0" y="0"/>
            <a:ext cx="9144000" cy="5143500"/>
          </a:xfrm>
          <a:prstGeom prst="rect">
            <a:avLst/>
          </a:prstGeom>
          <a:noFill/>
          <a:ln>
            <a:noFill/>
          </a:ln>
        </p:spPr>
      </p:pic>
      <p:sp>
        <p:nvSpPr>
          <p:cNvPr id="208" name="Google Shape;208;p35"/>
          <p:cNvSpPr txBox="1"/>
          <p:nvPr/>
        </p:nvSpPr>
        <p:spPr>
          <a:xfrm>
            <a:off x="1987200" y="333325"/>
            <a:ext cx="51696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800">
                <a:solidFill>
                  <a:srgbClr val="4E4545"/>
                </a:solidFill>
              </a:rPr>
              <a:t>Computer Vision and Natural Language Processing</a:t>
            </a:r>
            <a:endParaRPr b="1" sz="2800">
              <a:solidFill>
                <a:srgbClr val="4E4545"/>
              </a:solidFill>
            </a:endParaRPr>
          </a:p>
        </p:txBody>
      </p:sp>
      <p:sp>
        <p:nvSpPr>
          <p:cNvPr id="209" name="Google Shape;209;p35"/>
          <p:cNvSpPr txBox="1"/>
          <p:nvPr/>
        </p:nvSpPr>
        <p:spPr>
          <a:xfrm>
            <a:off x="1266925" y="1283625"/>
            <a:ext cx="6720300" cy="377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GB" sz="1300">
                <a:solidFill>
                  <a:schemeClr val="dk1"/>
                </a:solidFill>
              </a:rPr>
              <a:t>Definition:</a:t>
            </a:r>
            <a:endParaRPr b="1" sz="1300">
              <a:solidFill>
                <a:schemeClr val="dk1"/>
              </a:solidFill>
            </a:endParaRPr>
          </a:p>
          <a:p>
            <a:pPr indent="-311150" lvl="0" marL="457200" rtl="0" algn="l">
              <a:lnSpc>
                <a:spcPct val="115000"/>
              </a:lnSpc>
              <a:spcBef>
                <a:spcPts val="1200"/>
              </a:spcBef>
              <a:spcAft>
                <a:spcPts val="0"/>
              </a:spcAft>
              <a:buClr>
                <a:schemeClr val="dk1"/>
              </a:buClr>
              <a:buSzPts val="1300"/>
              <a:buChar char="●"/>
            </a:pPr>
            <a:r>
              <a:rPr lang="en-GB" sz="1300">
                <a:solidFill>
                  <a:schemeClr val="dk1"/>
                </a:solidFill>
              </a:rPr>
              <a:t>Natural Language Processing (NLP) enables computers to </a:t>
            </a:r>
            <a:r>
              <a:rPr b="1" lang="en-GB" sz="1300">
                <a:solidFill>
                  <a:schemeClr val="dk1"/>
                </a:solidFill>
              </a:rPr>
              <a:t>understand, interpret, and generate human language</a:t>
            </a:r>
            <a:r>
              <a:rPr lang="en-GB" sz="1300">
                <a:solidFill>
                  <a:schemeClr val="dk1"/>
                </a:solidFill>
              </a:rPr>
              <a:t> in text or speech.</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300">
                <a:solidFill>
                  <a:schemeClr val="dk1"/>
                </a:solidFill>
              </a:rPr>
              <a:t>Key Applications:</a:t>
            </a:r>
            <a:endParaRPr b="1" sz="1300">
              <a:solidFill>
                <a:schemeClr val="dk1"/>
              </a:solidFill>
            </a:endParaRPr>
          </a:p>
          <a:p>
            <a:pPr indent="-311150" lvl="0" marL="457200" rtl="0" algn="l">
              <a:lnSpc>
                <a:spcPct val="115000"/>
              </a:lnSpc>
              <a:spcBef>
                <a:spcPts val="1200"/>
              </a:spcBef>
              <a:spcAft>
                <a:spcPts val="0"/>
              </a:spcAft>
              <a:buClr>
                <a:schemeClr val="dk1"/>
              </a:buClr>
              <a:buSzPts val="1300"/>
              <a:buChar char="●"/>
            </a:pPr>
            <a:r>
              <a:rPr lang="en-GB" sz="1300">
                <a:solidFill>
                  <a:schemeClr val="dk1"/>
                </a:solidFill>
              </a:rPr>
              <a:t>Machine Translation</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Chatbots &amp; Virtual Assistants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Sentiment Analysis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Text Summarization</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Speech Recognition</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300">
                <a:solidFill>
                  <a:schemeClr val="dk1"/>
                </a:solidFill>
              </a:rPr>
              <a:t>Popular Algorithms/Models:</a:t>
            </a:r>
            <a:endParaRPr b="1" sz="1300">
              <a:solidFill>
                <a:schemeClr val="dk1"/>
              </a:solidFill>
            </a:endParaRPr>
          </a:p>
          <a:p>
            <a:pPr indent="-311150" lvl="0" marL="457200" rtl="0" algn="l">
              <a:lnSpc>
                <a:spcPct val="115000"/>
              </a:lnSpc>
              <a:spcBef>
                <a:spcPts val="1200"/>
              </a:spcBef>
              <a:spcAft>
                <a:spcPts val="0"/>
              </a:spcAft>
              <a:buClr>
                <a:schemeClr val="dk1"/>
              </a:buClr>
              <a:buSzPts val="1300"/>
              <a:buChar char="●"/>
            </a:pPr>
            <a:r>
              <a:rPr lang="en-GB" sz="1300">
                <a:solidFill>
                  <a:schemeClr val="dk1"/>
                </a:solidFill>
              </a:rPr>
              <a:t>BERT</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GPT (Generative Pre-trained Transformer)</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Transformer</a:t>
            </a:r>
            <a:endParaRPr sz="1300">
              <a:solidFill>
                <a:schemeClr val="dk1"/>
              </a:solidFill>
            </a:endParaRPr>
          </a:p>
          <a:p>
            <a:pPr indent="0" lvl="0" marL="0" rtl="0" algn="l">
              <a:spcBef>
                <a:spcPts val="1200"/>
              </a:spcBef>
              <a:spcAft>
                <a:spcPts val="0"/>
              </a:spcAft>
              <a:buNone/>
            </a:pPr>
            <a:r>
              <a:t/>
            </a:r>
            <a:endParaRPr sz="2000">
              <a:solidFill>
                <a:schemeClr val="dk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descr="Make this high quality and don't change anything" id="214" name="Google Shape;214;p36"/>
          <p:cNvPicPr preferRelativeResize="0"/>
          <p:nvPr/>
        </p:nvPicPr>
        <p:blipFill>
          <a:blip r:embed="rId3">
            <a:alphaModFix/>
          </a:blip>
          <a:stretch>
            <a:fillRect/>
          </a:stretch>
        </p:blipFill>
        <p:spPr>
          <a:xfrm>
            <a:off x="0" y="0"/>
            <a:ext cx="9144000" cy="5143500"/>
          </a:xfrm>
          <a:prstGeom prst="rect">
            <a:avLst/>
          </a:prstGeom>
          <a:noFill/>
          <a:ln>
            <a:noFill/>
          </a:ln>
        </p:spPr>
      </p:pic>
      <p:sp>
        <p:nvSpPr>
          <p:cNvPr id="215" name="Google Shape;215;p36"/>
          <p:cNvSpPr txBox="1"/>
          <p:nvPr/>
        </p:nvSpPr>
        <p:spPr>
          <a:xfrm>
            <a:off x="1987200" y="333325"/>
            <a:ext cx="5169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800">
                <a:solidFill>
                  <a:srgbClr val="4E4545"/>
                </a:solidFill>
              </a:rPr>
              <a:t>The Transformer Revolution</a:t>
            </a:r>
            <a:endParaRPr b="1" sz="2800">
              <a:solidFill>
                <a:srgbClr val="4E4545"/>
              </a:solidFill>
            </a:endParaRPr>
          </a:p>
        </p:txBody>
      </p:sp>
      <p:sp>
        <p:nvSpPr>
          <p:cNvPr id="216" name="Google Shape;216;p36"/>
          <p:cNvSpPr txBox="1"/>
          <p:nvPr/>
        </p:nvSpPr>
        <p:spPr>
          <a:xfrm>
            <a:off x="2051900" y="1225625"/>
            <a:ext cx="6417300" cy="3663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500">
                <a:solidFill>
                  <a:schemeClr val="dk1"/>
                </a:solidFill>
              </a:rPr>
              <a:t>What is a Transformer?</a:t>
            </a:r>
            <a:endParaRPr b="1" sz="1500">
              <a:solidFill>
                <a:schemeClr val="dk1"/>
              </a:solidFill>
            </a:endParaRPr>
          </a:p>
          <a:p>
            <a:pPr indent="-311150" lvl="0" marL="457200" rtl="0" algn="l">
              <a:lnSpc>
                <a:spcPct val="115000"/>
              </a:lnSpc>
              <a:spcBef>
                <a:spcPts val="1200"/>
              </a:spcBef>
              <a:spcAft>
                <a:spcPts val="0"/>
              </a:spcAft>
              <a:buClr>
                <a:schemeClr val="dk1"/>
              </a:buClr>
              <a:buSzPts val="1300"/>
              <a:buChar char="●"/>
            </a:pPr>
            <a:r>
              <a:rPr lang="en-GB" sz="1300">
                <a:solidFill>
                  <a:schemeClr val="dk1"/>
                </a:solidFill>
              </a:rPr>
              <a:t>The </a:t>
            </a:r>
            <a:r>
              <a:rPr b="1" lang="en-GB" sz="1300">
                <a:solidFill>
                  <a:schemeClr val="dk1"/>
                </a:solidFill>
              </a:rPr>
              <a:t>Transformer</a:t>
            </a:r>
            <a:r>
              <a:rPr lang="en-GB" sz="1300">
                <a:solidFill>
                  <a:schemeClr val="dk1"/>
                </a:solidFill>
              </a:rPr>
              <a:t> is a deep learning architecture introduced by Google in </a:t>
            </a:r>
            <a:r>
              <a:rPr b="1" lang="en-GB" sz="1300">
                <a:solidFill>
                  <a:schemeClr val="dk1"/>
                </a:solidFill>
              </a:rPr>
              <a:t>2017</a:t>
            </a:r>
            <a:r>
              <a:rPr lang="en-GB" sz="1300">
                <a:solidFill>
                  <a:schemeClr val="dk1"/>
                </a:solidFill>
              </a:rPr>
              <a:t>.</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It revolutionized </a:t>
            </a:r>
            <a:r>
              <a:rPr b="1" lang="en-GB" sz="1300">
                <a:solidFill>
                  <a:schemeClr val="dk1"/>
                </a:solidFill>
              </a:rPr>
              <a:t>Natural Language Processing (NLP)</a:t>
            </a:r>
            <a:r>
              <a:rPr lang="en-GB" sz="1300">
                <a:solidFill>
                  <a:schemeClr val="dk1"/>
                </a:solidFill>
              </a:rPr>
              <a:t> by processing words in parallel rather than one at a time.</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Transformers use an </a:t>
            </a:r>
            <a:r>
              <a:rPr b="1" lang="en-GB" sz="1300">
                <a:solidFill>
                  <a:schemeClr val="dk1"/>
                </a:solidFill>
              </a:rPr>
              <a:t>Attention Mechanism</a:t>
            </a:r>
            <a:r>
              <a:rPr lang="en-GB" sz="1300">
                <a:solidFill>
                  <a:schemeClr val="dk1"/>
                </a:solidFill>
              </a:rPr>
              <a:t> to identify the most important words in a sentence.</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It became the foundation for modern </a:t>
            </a:r>
            <a:r>
              <a:rPr b="1" lang="en-GB" sz="1300">
                <a:solidFill>
                  <a:schemeClr val="dk1"/>
                </a:solidFill>
              </a:rPr>
              <a:t>Large Language Models (LLMs)</a:t>
            </a:r>
            <a:r>
              <a:rPr lang="en-GB" sz="1300">
                <a:solidFill>
                  <a:schemeClr val="dk1"/>
                </a:solidFill>
              </a:rPr>
              <a:t> such as ChatGPT, Gemini, Claude, and Llama.</a:t>
            </a:r>
            <a:endParaRPr sz="1300">
              <a:solidFill>
                <a:schemeClr val="dk1"/>
              </a:solidFill>
            </a:endParaRPr>
          </a:p>
          <a:p>
            <a:pPr indent="0" lvl="0" marL="0" rtl="0" algn="l">
              <a:lnSpc>
                <a:spcPct val="115000"/>
              </a:lnSpc>
              <a:spcBef>
                <a:spcPts val="1400"/>
              </a:spcBef>
              <a:spcAft>
                <a:spcPts val="0"/>
              </a:spcAft>
              <a:buNone/>
            </a:pPr>
            <a:r>
              <a:rPr b="1" lang="en-GB" sz="1500">
                <a:solidFill>
                  <a:schemeClr val="dk1"/>
                </a:solidFill>
              </a:rPr>
              <a:t>Why Was It Revolutionary?</a:t>
            </a:r>
            <a:endParaRPr b="1" sz="1500">
              <a:solidFill>
                <a:schemeClr val="dk1"/>
              </a:solidFill>
            </a:endParaRPr>
          </a:p>
          <a:p>
            <a:pPr indent="-311150" lvl="0" marL="457200" rtl="0" algn="l">
              <a:lnSpc>
                <a:spcPct val="115000"/>
              </a:lnSpc>
              <a:spcBef>
                <a:spcPts val="1200"/>
              </a:spcBef>
              <a:spcAft>
                <a:spcPts val="0"/>
              </a:spcAft>
              <a:buClr>
                <a:schemeClr val="dk1"/>
              </a:buClr>
              <a:buSzPts val="1300"/>
              <a:buChar char="●"/>
            </a:pPr>
            <a:r>
              <a:rPr lang="en-GB" sz="1300">
                <a:solidFill>
                  <a:schemeClr val="dk1"/>
                </a:solidFill>
              </a:rPr>
              <a:t>Faster training through parallel processing.</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 Better understanding of long-range context in text.</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 Higher accuracy than previous RNN and LSTM models.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 Scales efficiently to billions of parameters.</a:t>
            </a:r>
            <a:endParaRPr sz="1300">
              <a:solidFill>
                <a:schemeClr val="dk1"/>
              </a:solidFill>
            </a:endParaRPr>
          </a:p>
          <a:p>
            <a:pPr indent="0" lvl="0" marL="0" rtl="0" algn="l">
              <a:spcBef>
                <a:spcPts val="1200"/>
              </a:spcBef>
              <a:spcAft>
                <a:spcPts val="0"/>
              </a:spcAft>
              <a:buNone/>
            </a:pPr>
            <a:r>
              <a:t/>
            </a:r>
            <a:endParaRPr sz="2000">
              <a:solidFill>
                <a:schemeClr val="dk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descr="Make this high quality and don't change anything" id="221" name="Google Shape;221;p37"/>
          <p:cNvPicPr preferRelativeResize="0"/>
          <p:nvPr/>
        </p:nvPicPr>
        <p:blipFill>
          <a:blip r:embed="rId3">
            <a:alphaModFix/>
          </a:blip>
          <a:stretch>
            <a:fillRect/>
          </a:stretch>
        </p:blipFill>
        <p:spPr>
          <a:xfrm>
            <a:off x="0" y="0"/>
            <a:ext cx="9144000" cy="5143500"/>
          </a:xfrm>
          <a:prstGeom prst="rect">
            <a:avLst/>
          </a:prstGeom>
          <a:noFill/>
          <a:ln>
            <a:noFill/>
          </a:ln>
        </p:spPr>
      </p:pic>
      <p:sp>
        <p:nvSpPr>
          <p:cNvPr id="222" name="Google Shape;222;p37"/>
          <p:cNvSpPr txBox="1"/>
          <p:nvPr/>
        </p:nvSpPr>
        <p:spPr>
          <a:xfrm>
            <a:off x="1987200" y="1342675"/>
            <a:ext cx="6665100" cy="3084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500">
                <a:solidFill>
                  <a:schemeClr val="dk1"/>
                </a:solidFill>
              </a:rPr>
              <a:t>Key Innovation:</a:t>
            </a:r>
            <a:endParaRPr b="1"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300">
                <a:solidFill>
                  <a:schemeClr val="dk1"/>
                </a:solidFill>
              </a:rPr>
              <a:t>Attention Mechanism:</a:t>
            </a:r>
            <a:endParaRPr b="1" sz="1300">
              <a:solidFill>
                <a:schemeClr val="dk1"/>
              </a:solidFill>
            </a:endParaRPr>
          </a:p>
          <a:p>
            <a:pPr indent="-311150" lvl="0" marL="457200" rtl="0" algn="l">
              <a:lnSpc>
                <a:spcPct val="115000"/>
              </a:lnSpc>
              <a:spcBef>
                <a:spcPts val="1200"/>
              </a:spcBef>
              <a:spcAft>
                <a:spcPts val="0"/>
              </a:spcAft>
              <a:buClr>
                <a:schemeClr val="dk1"/>
              </a:buClr>
              <a:buSzPts val="1300"/>
              <a:buChar char="●"/>
            </a:pPr>
            <a:r>
              <a:rPr lang="en-GB" sz="1300">
                <a:solidFill>
                  <a:schemeClr val="dk1"/>
                </a:solidFill>
              </a:rPr>
              <a:t>Allows the model to focus on the most relevant words when understanding or generating text.</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Improves context awareness and language understanding.</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500">
                <a:solidFill>
                  <a:schemeClr val="dk1"/>
                </a:solidFill>
              </a:rPr>
              <a:t>Popular Transformer Models:</a:t>
            </a:r>
            <a:endParaRPr b="1" sz="1500">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GB" sz="1300">
                <a:solidFill>
                  <a:schemeClr val="dk1"/>
                </a:solidFill>
              </a:rPr>
              <a:t>BERT</a:t>
            </a:r>
            <a:r>
              <a:rPr lang="en-GB" sz="1300">
                <a:solidFill>
                  <a:schemeClr val="dk1"/>
                </a:solidFill>
              </a:rPr>
              <a:t> – Language understanding and search.</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GB" sz="1300">
                <a:solidFill>
                  <a:schemeClr val="dk1"/>
                </a:solidFill>
              </a:rPr>
              <a:t>GPT</a:t>
            </a:r>
            <a:r>
              <a:rPr lang="en-GB" sz="1300">
                <a:solidFill>
                  <a:schemeClr val="dk1"/>
                </a:solidFill>
              </a:rPr>
              <a:t> – Text generation and conversational AI.</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GB" sz="1300">
                <a:solidFill>
                  <a:schemeClr val="dk1"/>
                </a:solidFill>
              </a:rPr>
              <a:t>T5</a:t>
            </a:r>
            <a:r>
              <a:rPr lang="en-GB" sz="1300">
                <a:solidFill>
                  <a:schemeClr val="dk1"/>
                </a:solidFill>
              </a:rPr>
              <a:t> – Translation, summarization, and question answering.</a:t>
            </a:r>
            <a:endParaRPr sz="1300">
              <a:solidFill>
                <a:schemeClr val="dk1"/>
              </a:solidFill>
            </a:endParaRPr>
          </a:p>
          <a:p>
            <a:pPr indent="0" lvl="0" marL="0" rtl="0" algn="l">
              <a:spcBef>
                <a:spcPts val="1200"/>
              </a:spcBef>
              <a:spcAft>
                <a:spcPts val="0"/>
              </a:spcAft>
              <a:buNone/>
            </a:pPr>
            <a:r>
              <a:t/>
            </a:r>
            <a:endParaRPr sz="2000">
              <a:solidFill>
                <a:schemeClr val="dk2"/>
              </a:solidFill>
            </a:endParaRPr>
          </a:p>
        </p:txBody>
      </p:sp>
      <p:sp>
        <p:nvSpPr>
          <p:cNvPr id="223" name="Google Shape;223;p37"/>
          <p:cNvSpPr txBox="1"/>
          <p:nvPr/>
        </p:nvSpPr>
        <p:spPr>
          <a:xfrm>
            <a:off x="1987200" y="333325"/>
            <a:ext cx="5169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800">
                <a:solidFill>
                  <a:srgbClr val="4E4545"/>
                </a:solidFill>
              </a:rPr>
              <a:t>The Transformer Revolution</a:t>
            </a:r>
            <a:endParaRPr b="1" sz="2800">
              <a:solidFill>
                <a:srgbClr val="4E4545"/>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descr="Make this high quality and don't change anything" id="228" name="Google Shape;228;p38"/>
          <p:cNvPicPr preferRelativeResize="0"/>
          <p:nvPr/>
        </p:nvPicPr>
        <p:blipFill>
          <a:blip r:embed="rId3">
            <a:alphaModFix/>
          </a:blip>
          <a:stretch>
            <a:fillRect/>
          </a:stretch>
        </p:blipFill>
        <p:spPr>
          <a:xfrm>
            <a:off x="0" y="0"/>
            <a:ext cx="9144000" cy="5143500"/>
          </a:xfrm>
          <a:prstGeom prst="rect">
            <a:avLst/>
          </a:prstGeom>
          <a:noFill/>
          <a:ln>
            <a:noFill/>
          </a:ln>
        </p:spPr>
      </p:pic>
      <p:sp>
        <p:nvSpPr>
          <p:cNvPr id="229" name="Google Shape;229;p38"/>
          <p:cNvSpPr txBox="1"/>
          <p:nvPr/>
        </p:nvSpPr>
        <p:spPr>
          <a:xfrm>
            <a:off x="1987200" y="333325"/>
            <a:ext cx="5169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800">
                <a:solidFill>
                  <a:srgbClr val="4E4545"/>
                </a:solidFill>
              </a:rPr>
              <a:t>The Transformer Revolution</a:t>
            </a:r>
            <a:endParaRPr b="1" sz="2800">
              <a:solidFill>
                <a:srgbClr val="4E4545"/>
              </a:solidFill>
            </a:endParaRPr>
          </a:p>
        </p:txBody>
      </p:sp>
      <p:sp>
        <p:nvSpPr>
          <p:cNvPr id="230" name="Google Shape;230;p38"/>
          <p:cNvSpPr txBox="1"/>
          <p:nvPr/>
        </p:nvSpPr>
        <p:spPr>
          <a:xfrm>
            <a:off x="1987200" y="1206475"/>
            <a:ext cx="6520500" cy="360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GB" sz="1900">
                <a:solidFill>
                  <a:schemeClr val="dk1"/>
                </a:solidFill>
              </a:rPr>
              <a:t>Real-World Use Case: Google Translate </a:t>
            </a:r>
            <a:endParaRPr b="1" sz="1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300">
                <a:solidFill>
                  <a:schemeClr val="dk1"/>
                </a:solidFill>
              </a:rPr>
              <a:t>Application:</a:t>
            </a:r>
            <a:endParaRPr b="1" sz="1300">
              <a:solidFill>
                <a:schemeClr val="dk1"/>
              </a:solidFill>
            </a:endParaRPr>
          </a:p>
          <a:p>
            <a:pPr indent="-311150" lvl="0" marL="457200" rtl="0" algn="l">
              <a:lnSpc>
                <a:spcPct val="115000"/>
              </a:lnSpc>
              <a:spcBef>
                <a:spcPts val="1200"/>
              </a:spcBef>
              <a:spcAft>
                <a:spcPts val="0"/>
              </a:spcAft>
              <a:buClr>
                <a:schemeClr val="dk1"/>
              </a:buClr>
              <a:buSzPts val="1300"/>
              <a:buChar char="●"/>
            </a:pPr>
            <a:r>
              <a:rPr lang="en-GB" sz="1300">
                <a:solidFill>
                  <a:schemeClr val="dk1"/>
                </a:solidFill>
              </a:rPr>
              <a:t>Google Translate uses Transformer models to provide fast and accurate translations across hundreds of languages.</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300">
                <a:solidFill>
                  <a:schemeClr val="dk1"/>
                </a:solidFill>
              </a:rPr>
              <a:t>How It Works:</a:t>
            </a:r>
            <a:endParaRPr b="1" sz="1300">
              <a:solidFill>
                <a:schemeClr val="dk1"/>
              </a:solidFill>
            </a:endParaRPr>
          </a:p>
          <a:p>
            <a:pPr indent="-311150" lvl="0" marL="457200" rtl="0" algn="l">
              <a:lnSpc>
                <a:spcPct val="115000"/>
              </a:lnSpc>
              <a:spcBef>
                <a:spcPts val="1200"/>
              </a:spcBef>
              <a:spcAft>
                <a:spcPts val="0"/>
              </a:spcAft>
              <a:buClr>
                <a:schemeClr val="dk1"/>
              </a:buClr>
              <a:buSzPts val="1300"/>
              <a:buChar char="●"/>
            </a:pPr>
            <a:r>
              <a:rPr lang="en-GB" sz="1300">
                <a:solidFill>
                  <a:schemeClr val="dk1"/>
                </a:solidFill>
              </a:rPr>
              <a:t>The Transformer analyzes the entire sentence at once, understands the context, and generates a natural translation instead of translating word by word.</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300">
                <a:solidFill>
                  <a:schemeClr val="dk1"/>
                </a:solidFill>
              </a:rPr>
              <a:t>Benefits:</a:t>
            </a:r>
            <a:endParaRPr b="1" sz="1300">
              <a:solidFill>
                <a:schemeClr val="dk1"/>
              </a:solidFill>
            </a:endParaRPr>
          </a:p>
          <a:p>
            <a:pPr indent="-311150" lvl="0" marL="457200" rtl="0" algn="l">
              <a:lnSpc>
                <a:spcPct val="115000"/>
              </a:lnSpc>
              <a:spcBef>
                <a:spcPts val="1200"/>
              </a:spcBef>
              <a:spcAft>
                <a:spcPts val="0"/>
              </a:spcAft>
              <a:buClr>
                <a:schemeClr val="dk1"/>
              </a:buClr>
              <a:buSzPts val="1300"/>
              <a:buChar char="●"/>
            </a:pPr>
            <a:r>
              <a:rPr lang="en-GB" sz="1300">
                <a:solidFill>
                  <a:schemeClr val="dk1"/>
                </a:solidFill>
              </a:rPr>
              <a:t>More accurate translations.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Better handling of grammar and sentence structure.</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Supports real-time translation for websites, documents, and conversations.</a:t>
            </a:r>
            <a:endParaRPr sz="1300">
              <a:solidFill>
                <a:schemeClr val="dk1"/>
              </a:solidFill>
            </a:endParaRPr>
          </a:p>
          <a:p>
            <a:pPr indent="0" lvl="0" marL="0" rtl="0" algn="l">
              <a:spcBef>
                <a:spcPts val="1200"/>
              </a:spcBef>
              <a:spcAft>
                <a:spcPts val="0"/>
              </a:spcAft>
              <a:buNone/>
            </a:pPr>
            <a:r>
              <a:t/>
            </a:r>
            <a:endParaRPr sz="2000">
              <a:solidFill>
                <a:schemeClr val="dk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descr="Make this high quality and don't change anything" id="235" name="Google Shape;235;p39"/>
          <p:cNvPicPr preferRelativeResize="0"/>
          <p:nvPr/>
        </p:nvPicPr>
        <p:blipFill>
          <a:blip r:embed="rId3">
            <a:alphaModFix/>
          </a:blip>
          <a:stretch>
            <a:fillRect/>
          </a:stretch>
        </p:blipFill>
        <p:spPr>
          <a:xfrm>
            <a:off x="0" y="0"/>
            <a:ext cx="9144000" cy="5143500"/>
          </a:xfrm>
          <a:prstGeom prst="rect">
            <a:avLst/>
          </a:prstGeom>
          <a:noFill/>
          <a:ln>
            <a:noFill/>
          </a:ln>
        </p:spPr>
      </p:pic>
      <p:sp>
        <p:nvSpPr>
          <p:cNvPr id="236" name="Google Shape;236;p39"/>
          <p:cNvSpPr txBox="1"/>
          <p:nvPr/>
        </p:nvSpPr>
        <p:spPr>
          <a:xfrm>
            <a:off x="1987200" y="333325"/>
            <a:ext cx="5169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800">
                <a:solidFill>
                  <a:srgbClr val="4E4545"/>
                </a:solidFill>
              </a:rPr>
              <a:t>The Transformer Revolution</a:t>
            </a:r>
            <a:endParaRPr b="1" sz="2800">
              <a:solidFill>
                <a:srgbClr val="4E4545"/>
              </a:solidFill>
            </a:endParaRPr>
          </a:p>
        </p:txBody>
      </p:sp>
      <p:pic>
        <p:nvPicPr>
          <p:cNvPr descr="create a image of transformer architecture" id="237" name="Google Shape;237;p39"/>
          <p:cNvPicPr preferRelativeResize="0"/>
          <p:nvPr/>
        </p:nvPicPr>
        <p:blipFill>
          <a:blip r:embed="rId4">
            <a:alphaModFix/>
          </a:blip>
          <a:stretch>
            <a:fillRect/>
          </a:stretch>
        </p:blipFill>
        <p:spPr>
          <a:xfrm>
            <a:off x="2045075" y="1045975"/>
            <a:ext cx="4372401" cy="38667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pic>
        <p:nvPicPr>
          <p:cNvPr descr="Make this high quality and don't change anything" id="242" name="Google Shape;242;p40"/>
          <p:cNvPicPr preferRelativeResize="0"/>
          <p:nvPr/>
        </p:nvPicPr>
        <p:blipFill>
          <a:blip r:embed="rId3">
            <a:alphaModFix/>
          </a:blip>
          <a:stretch>
            <a:fillRect/>
          </a:stretch>
        </p:blipFill>
        <p:spPr>
          <a:xfrm>
            <a:off x="0" y="0"/>
            <a:ext cx="9144000" cy="5143500"/>
          </a:xfrm>
          <a:prstGeom prst="rect">
            <a:avLst/>
          </a:prstGeom>
          <a:noFill/>
          <a:ln>
            <a:noFill/>
          </a:ln>
        </p:spPr>
      </p:pic>
      <p:sp>
        <p:nvSpPr>
          <p:cNvPr id="243" name="Google Shape;243;p40"/>
          <p:cNvSpPr txBox="1"/>
          <p:nvPr/>
        </p:nvSpPr>
        <p:spPr>
          <a:xfrm>
            <a:off x="1987200" y="333325"/>
            <a:ext cx="5169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800">
                <a:solidFill>
                  <a:srgbClr val="4E4545"/>
                </a:solidFill>
              </a:rPr>
              <a:t>Large Language Models (LLMs)</a:t>
            </a:r>
            <a:endParaRPr b="1" sz="2800">
              <a:solidFill>
                <a:srgbClr val="4E4545"/>
              </a:solidFill>
            </a:endParaRPr>
          </a:p>
        </p:txBody>
      </p:sp>
      <p:sp>
        <p:nvSpPr>
          <p:cNvPr id="244" name="Google Shape;244;p40"/>
          <p:cNvSpPr txBox="1"/>
          <p:nvPr/>
        </p:nvSpPr>
        <p:spPr>
          <a:xfrm>
            <a:off x="1351050" y="1315350"/>
            <a:ext cx="6441900" cy="3613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600">
                <a:solidFill>
                  <a:schemeClr val="dk1"/>
                </a:solidFill>
              </a:rPr>
              <a:t>What are Large Language Models?</a:t>
            </a:r>
            <a:endParaRPr b="1" sz="1600">
              <a:solidFill>
                <a:schemeClr val="dk1"/>
              </a:solidFill>
            </a:endParaRPr>
          </a:p>
          <a:p>
            <a:pPr indent="-317500" lvl="0" marL="457200" rtl="0" algn="l">
              <a:lnSpc>
                <a:spcPct val="115000"/>
              </a:lnSpc>
              <a:spcBef>
                <a:spcPts val="1200"/>
              </a:spcBef>
              <a:spcAft>
                <a:spcPts val="0"/>
              </a:spcAft>
              <a:buClr>
                <a:schemeClr val="dk1"/>
              </a:buClr>
              <a:buSzPts val="1400"/>
              <a:buChar char="●"/>
            </a:pPr>
            <a:r>
              <a:rPr b="1" lang="en-GB">
                <a:solidFill>
                  <a:schemeClr val="dk1"/>
                </a:solidFill>
              </a:rPr>
              <a:t>Large Language Models (LLMs)</a:t>
            </a:r>
            <a:r>
              <a:rPr lang="en-GB">
                <a:solidFill>
                  <a:schemeClr val="dk1"/>
                </a:solidFill>
              </a:rPr>
              <a:t> are AI models trained on </a:t>
            </a:r>
            <a:r>
              <a:rPr b="1" lang="en-GB">
                <a:solidFill>
                  <a:schemeClr val="dk1"/>
                </a:solidFill>
              </a:rPr>
              <a:t>massive amounts of text data</a:t>
            </a:r>
            <a:r>
              <a:rPr lang="en-GB">
                <a:solidFill>
                  <a:schemeClr val="dk1"/>
                </a:solidFill>
              </a:rPr>
              <a:t> to understand and generate human language.</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They are built using the </a:t>
            </a:r>
            <a:r>
              <a:rPr b="1" lang="en-GB">
                <a:solidFill>
                  <a:schemeClr val="dk1"/>
                </a:solidFill>
              </a:rPr>
              <a:t>Transformer architecture</a:t>
            </a:r>
            <a:r>
              <a:rPr lang="en-GB">
                <a:solidFill>
                  <a:schemeClr val="dk1"/>
                </a:solidFill>
              </a:rPr>
              <a:t> and contain </a:t>
            </a:r>
            <a:r>
              <a:rPr b="1" lang="en-GB">
                <a:solidFill>
                  <a:schemeClr val="dk1"/>
                </a:solidFill>
              </a:rPr>
              <a:t>billions of parameters</a:t>
            </a:r>
            <a:r>
              <a:rPr lang="en-GB">
                <a:solidFill>
                  <a:schemeClr val="dk1"/>
                </a:solidFill>
              </a:rPr>
              <a:t>.</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LLMs can perform a wide range of language tasks without task-specific programming.</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They power modern conversational AI, coding assistants, and content generation tools.</a:t>
            </a:r>
            <a:endParaRPr>
              <a:solidFill>
                <a:schemeClr val="dk1"/>
              </a:solidFill>
            </a:endParaRPr>
          </a:p>
          <a:p>
            <a:pPr indent="0" lvl="0" marL="0" rtl="0" algn="l">
              <a:spcBef>
                <a:spcPts val="1200"/>
              </a:spcBef>
              <a:spcAft>
                <a:spcPts val="0"/>
              </a:spcAft>
              <a:buNone/>
            </a:pPr>
            <a:r>
              <a:rPr b="1" lang="en-GB" sz="1300">
                <a:solidFill>
                  <a:schemeClr val="dk1"/>
                </a:solidFill>
              </a:rPr>
              <a:t>Example:</a:t>
            </a:r>
            <a:r>
              <a:rPr lang="en-GB" sz="1300">
                <a:solidFill>
                  <a:schemeClr val="dk1"/>
                </a:solidFill>
              </a:rPr>
              <a:t>Chatgpt,Gemini,Claude,Grok</a:t>
            </a:r>
            <a:endParaRPr sz="1300">
              <a:solidFill>
                <a:schemeClr val="dk1"/>
              </a:solidFill>
            </a:endParaRPr>
          </a:p>
          <a:p>
            <a:pPr indent="0" lvl="0" marL="457200" rtl="0" algn="l">
              <a:lnSpc>
                <a:spcPct val="115000"/>
              </a:lnSpc>
              <a:spcBef>
                <a:spcPts val="1200"/>
              </a:spcBef>
              <a:spcAft>
                <a:spcPts val="1200"/>
              </a:spcAft>
              <a:buNone/>
            </a:pPr>
            <a:r>
              <a:t/>
            </a:r>
            <a:endParaRPr>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pic>
        <p:nvPicPr>
          <p:cNvPr descr="Make this high quality and don't change anything" id="249" name="Google Shape;249;p41"/>
          <p:cNvPicPr preferRelativeResize="0"/>
          <p:nvPr/>
        </p:nvPicPr>
        <p:blipFill>
          <a:blip r:embed="rId3">
            <a:alphaModFix/>
          </a:blip>
          <a:stretch>
            <a:fillRect/>
          </a:stretch>
        </p:blipFill>
        <p:spPr>
          <a:xfrm>
            <a:off x="0" y="0"/>
            <a:ext cx="9144000" cy="5143500"/>
          </a:xfrm>
          <a:prstGeom prst="rect">
            <a:avLst/>
          </a:prstGeom>
          <a:noFill/>
          <a:ln>
            <a:noFill/>
          </a:ln>
        </p:spPr>
      </p:pic>
      <p:sp>
        <p:nvSpPr>
          <p:cNvPr id="250" name="Google Shape;250;p41"/>
          <p:cNvSpPr txBox="1"/>
          <p:nvPr/>
        </p:nvSpPr>
        <p:spPr>
          <a:xfrm>
            <a:off x="1987200" y="333325"/>
            <a:ext cx="51696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800">
                <a:solidFill>
                  <a:srgbClr val="4E4545"/>
                </a:solidFill>
              </a:rPr>
              <a:t>Generative AI</a:t>
            </a:r>
            <a:endParaRPr b="1" sz="2800">
              <a:solidFill>
                <a:srgbClr val="4E4545"/>
              </a:solidFill>
            </a:endParaRPr>
          </a:p>
        </p:txBody>
      </p:sp>
      <p:sp>
        <p:nvSpPr>
          <p:cNvPr id="251" name="Google Shape;251;p41"/>
          <p:cNvSpPr txBox="1"/>
          <p:nvPr/>
        </p:nvSpPr>
        <p:spPr>
          <a:xfrm>
            <a:off x="1521750" y="1488225"/>
            <a:ext cx="6100500" cy="2974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600">
                <a:solidFill>
                  <a:schemeClr val="dk1"/>
                </a:solidFill>
              </a:rPr>
              <a:t>What is Generative AI?</a:t>
            </a:r>
            <a:endParaRPr b="1" sz="1600">
              <a:solidFill>
                <a:schemeClr val="dk1"/>
              </a:solidFill>
            </a:endParaRPr>
          </a:p>
          <a:p>
            <a:pPr indent="-317500" lvl="0" marL="457200" rtl="0" algn="l">
              <a:lnSpc>
                <a:spcPct val="115000"/>
              </a:lnSpc>
              <a:spcBef>
                <a:spcPts val="1200"/>
              </a:spcBef>
              <a:spcAft>
                <a:spcPts val="0"/>
              </a:spcAft>
              <a:buClr>
                <a:schemeClr val="dk1"/>
              </a:buClr>
              <a:buSzPts val="1400"/>
              <a:buChar char="●"/>
            </a:pPr>
            <a:r>
              <a:rPr b="1" lang="en-GB">
                <a:solidFill>
                  <a:schemeClr val="dk1"/>
                </a:solidFill>
              </a:rPr>
              <a:t>Generative AI</a:t>
            </a:r>
            <a:r>
              <a:rPr lang="en-GB">
                <a:solidFill>
                  <a:schemeClr val="dk1"/>
                </a:solidFill>
              </a:rPr>
              <a:t> is a branch of Artificial Intelligence that can </a:t>
            </a:r>
            <a:r>
              <a:rPr b="1" lang="en-GB">
                <a:solidFill>
                  <a:schemeClr val="dk1"/>
                </a:solidFill>
              </a:rPr>
              <a:t>create new content</a:t>
            </a:r>
            <a:r>
              <a:rPr lang="en-GB">
                <a:solidFill>
                  <a:schemeClr val="dk1"/>
                </a:solidFill>
              </a:rPr>
              <a:t> such as text, images, audio, video, and code.</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It learns patterns from large datasets and generates original content based on user prompts.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Most modern Generative AI models are built on </a:t>
            </a:r>
            <a:r>
              <a:rPr b="1" lang="en-GB">
                <a:solidFill>
                  <a:schemeClr val="dk1"/>
                </a:solidFill>
              </a:rPr>
              <a:t>Large Language Models (LLMs)</a:t>
            </a:r>
            <a:r>
              <a:rPr lang="en-GB">
                <a:solidFill>
                  <a:schemeClr val="dk1"/>
                </a:solidFill>
              </a:rPr>
              <a:t> and the </a:t>
            </a:r>
            <a:r>
              <a:rPr b="1" lang="en-GB">
                <a:solidFill>
                  <a:schemeClr val="dk1"/>
                </a:solidFill>
              </a:rPr>
              <a:t>Transformer architecture</a:t>
            </a:r>
            <a:r>
              <a:rPr lang="en-GB">
                <a:solidFill>
                  <a:schemeClr val="dk1"/>
                </a:solidFill>
              </a:rPr>
              <a:t>.</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It is widely used to automate creative and knowledge-based tasks.</a:t>
            </a:r>
            <a:endParaRPr>
              <a:solidFill>
                <a:schemeClr val="dk1"/>
              </a:solidFill>
            </a:endParaRPr>
          </a:p>
          <a:p>
            <a:pPr indent="0" lvl="0" marL="0" rtl="0" algn="l">
              <a:spcBef>
                <a:spcPts val="1200"/>
              </a:spcBef>
              <a:spcAft>
                <a:spcPts val="0"/>
              </a:spcAft>
              <a:buNone/>
            </a:pPr>
            <a:r>
              <a:rPr b="1" lang="en-GB"/>
              <a:t>Example:</a:t>
            </a:r>
            <a:r>
              <a:rPr lang="en-GB"/>
              <a:t>Chatgpt,Gemini,Claude,Stable Diffusion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pic>
        <p:nvPicPr>
          <p:cNvPr descr="Make this high quality and don't change anything" id="256" name="Google Shape;256;p42"/>
          <p:cNvPicPr preferRelativeResize="0"/>
          <p:nvPr/>
        </p:nvPicPr>
        <p:blipFill>
          <a:blip r:embed="rId3">
            <a:alphaModFix/>
          </a:blip>
          <a:stretch>
            <a:fillRect/>
          </a:stretch>
        </p:blipFill>
        <p:spPr>
          <a:xfrm>
            <a:off x="0" y="0"/>
            <a:ext cx="9144000" cy="5143500"/>
          </a:xfrm>
          <a:prstGeom prst="rect">
            <a:avLst/>
          </a:prstGeom>
          <a:noFill/>
          <a:ln>
            <a:noFill/>
          </a:ln>
        </p:spPr>
      </p:pic>
      <p:sp>
        <p:nvSpPr>
          <p:cNvPr id="257" name="Google Shape;257;p42"/>
          <p:cNvSpPr txBox="1"/>
          <p:nvPr/>
        </p:nvSpPr>
        <p:spPr>
          <a:xfrm>
            <a:off x="2001475" y="333325"/>
            <a:ext cx="51552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800">
                <a:solidFill>
                  <a:srgbClr val="4E4545"/>
                </a:solidFill>
              </a:rPr>
              <a:t>AI Agents</a:t>
            </a:r>
            <a:endParaRPr b="1" sz="2800">
              <a:solidFill>
                <a:srgbClr val="4E4545"/>
              </a:solidFill>
            </a:endParaRPr>
          </a:p>
        </p:txBody>
      </p:sp>
      <p:sp>
        <p:nvSpPr>
          <p:cNvPr id="258" name="Google Shape;258;p42"/>
          <p:cNvSpPr txBox="1"/>
          <p:nvPr/>
        </p:nvSpPr>
        <p:spPr>
          <a:xfrm>
            <a:off x="1589400" y="1322025"/>
            <a:ext cx="6504900" cy="3442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600">
                <a:solidFill>
                  <a:schemeClr val="dk1"/>
                </a:solidFill>
              </a:rPr>
              <a:t>What are AI Agents?</a:t>
            </a:r>
            <a:endParaRPr b="1" sz="1600">
              <a:solidFill>
                <a:schemeClr val="dk1"/>
              </a:solidFill>
            </a:endParaRPr>
          </a:p>
          <a:p>
            <a:pPr indent="-317500" lvl="0" marL="457200" rtl="0" algn="l">
              <a:lnSpc>
                <a:spcPct val="115000"/>
              </a:lnSpc>
              <a:spcBef>
                <a:spcPts val="1200"/>
              </a:spcBef>
              <a:spcAft>
                <a:spcPts val="0"/>
              </a:spcAft>
              <a:buClr>
                <a:schemeClr val="dk1"/>
              </a:buClr>
              <a:buSzPts val="1400"/>
              <a:buChar char="●"/>
            </a:pPr>
            <a:r>
              <a:rPr b="1" lang="en-GB">
                <a:solidFill>
                  <a:schemeClr val="dk1"/>
                </a:solidFill>
              </a:rPr>
              <a:t>AI Agents</a:t>
            </a:r>
            <a:r>
              <a:rPr lang="en-GB">
                <a:solidFill>
                  <a:schemeClr val="dk1"/>
                </a:solidFill>
              </a:rPr>
              <a:t> are intelligent systems that can </a:t>
            </a:r>
            <a:r>
              <a:rPr b="1" lang="en-GB">
                <a:solidFill>
                  <a:schemeClr val="dk1"/>
                </a:solidFill>
              </a:rPr>
              <a:t>perceive, reason, plan, and take actions</a:t>
            </a:r>
            <a:r>
              <a:rPr lang="en-GB">
                <a:solidFill>
                  <a:schemeClr val="dk1"/>
                </a:solidFill>
              </a:rPr>
              <a:t> to achieve a specific goal with minimal human intervention.</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Unlike traditional AI, AI agents can make decisions, use tools, and adapt based on feedback.</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They can automate complex workflows by breaking tasks into smaller steps and executing them independently.</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Modern AI agents are often powered by </a:t>
            </a:r>
            <a:r>
              <a:rPr b="1" lang="en-GB">
                <a:solidFill>
                  <a:schemeClr val="dk1"/>
                </a:solidFill>
              </a:rPr>
              <a:t>Large Language Models (LLMs)</a:t>
            </a:r>
            <a:r>
              <a:rPr lang="en-GB">
                <a:solidFill>
                  <a:schemeClr val="dk1"/>
                </a:solidFill>
              </a:rPr>
              <a:t>.</a:t>
            </a:r>
            <a:endParaRPr>
              <a:solidFill>
                <a:schemeClr val="dk1"/>
              </a:solidFill>
            </a:endParaRPr>
          </a:p>
          <a:p>
            <a:pPr indent="0" lvl="0" marL="0" rtl="0" algn="l">
              <a:spcBef>
                <a:spcPts val="1200"/>
              </a:spcBef>
              <a:spcAft>
                <a:spcPts val="0"/>
              </a:spcAft>
              <a:buNone/>
            </a:pPr>
            <a:r>
              <a:t/>
            </a:r>
            <a:endParaRPr sz="2100">
              <a:solidFill>
                <a:schemeClr val="dk2"/>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pic>
        <p:nvPicPr>
          <p:cNvPr descr="Make this high quality and don't change anything" id="263" name="Google Shape;263;p43"/>
          <p:cNvPicPr preferRelativeResize="0"/>
          <p:nvPr/>
        </p:nvPicPr>
        <p:blipFill>
          <a:blip r:embed="rId3">
            <a:alphaModFix/>
          </a:blip>
          <a:stretch>
            <a:fillRect/>
          </a:stretch>
        </p:blipFill>
        <p:spPr>
          <a:xfrm>
            <a:off x="0" y="0"/>
            <a:ext cx="9144000" cy="5143500"/>
          </a:xfrm>
          <a:prstGeom prst="rect">
            <a:avLst/>
          </a:prstGeom>
          <a:noFill/>
          <a:ln>
            <a:noFill/>
          </a:ln>
        </p:spPr>
      </p:pic>
      <p:sp>
        <p:nvSpPr>
          <p:cNvPr id="264" name="Google Shape;264;p43"/>
          <p:cNvSpPr txBox="1"/>
          <p:nvPr/>
        </p:nvSpPr>
        <p:spPr>
          <a:xfrm>
            <a:off x="2001475" y="333325"/>
            <a:ext cx="51552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800">
                <a:solidFill>
                  <a:srgbClr val="4E4545"/>
                </a:solidFill>
              </a:rPr>
              <a:t>AI Agents</a:t>
            </a:r>
            <a:endParaRPr b="1" sz="2800">
              <a:solidFill>
                <a:srgbClr val="4E4545"/>
              </a:solidFill>
            </a:endParaRPr>
          </a:p>
        </p:txBody>
      </p:sp>
      <p:sp>
        <p:nvSpPr>
          <p:cNvPr id="265" name="Google Shape;265;p43"/>
          <p:cNvSpPr txBox="1"/>
          <p:nvPr/>
        </p:nvSpPr>
        <p:spPr>
          <a:xfrm>
            <a:off x="1535400" y="1407550"/>
            <a:ext cx="6073200" cy="3139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600">
                <a:solidFill>
                  <a:schemeClr val="dk1"/>
                </a:solidFill>
              </a:rPr>
              <a:t>Popular AI Agent Frameworks</a:t>
            </a:r>
            <a:endParaRPr b="1" sz="1600">
              <a:solidFill>
                <a:schemeClr val="dk1"/>
              </a:solidFill>
            </a:endParaRPr>
          </a:p>
          <a:p>
            <a:pPr indent="-317500" lvl="0" marL="457200" rtl="0" algn="l">
              <a:lnSpc>
                <a:spcPct val="115000"/>
              </a:lnSpc>
              <a:spcBef>
                <a:spcPts val="1200"/>
              </a:spcBef>
              <a:spcAft>
                <a:spcPts val="0"/>
              </a:spcAft>
              <a:buClr>
                <a:schemeClr val="dk1"/>
              </a:buClr>
              <a:buSzPts val="1400"/>
              <a:buChar char="●"/>
            </a:pPr>
            <a:r>
              <a:rPr lang="en-GB">
                <a:solidFill>
                  <a:schemeClr val="dk1"/>
                </a:solidFill>
              </a:rPr>
              <a:t>LangGraph</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AutoGen</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CrewAI</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OpenAI Agents SDK</a:t>
            </a:r>
            <a:endParaRPr>
              <a:solidFill>
                <a:schemeClr val="dk1"/>
              </a:solidFill>
            </a:endParaRPr>
          </a:p>
          <a:p>
            <a:pPr indent="0" lvl="0" marL="0" rtl="0" algn="l">
              <a:lnSpc>
                <a:spcPct val="115000"/>
              </a:lnSpc>
              <a:spcBef>
                <a:spcPts val="1200"/>
              </a:spcBef>
              <a:spcAft>
                <a:spcPts val="0"/>
              </a:spcAft>
              <a:buNone/>
            </a:pPr>
            <a:r>
              <a:rPr b="1" lang="en-GB" sz="1300">
                <a:solidFill>
                  <a:schemeClr val="dk1"/>
                </a:solidFill>
              </a:rPr>
              <a:t>Examples:</a:t>
            </a:r>
            <a:endParaRPr b="1" sz="1300">
              <a:solidFill>
                <a:schemeClr val="dk1"/>
              </a:solidFill>
            </a:endParaRPr>
          </a:p>
          <a:p>
            <a:pPr indent="-311150" lvl="0" marL="457200" rtl="0" algn="l">
              <a:lnSpc>
                <a:spcPct val="115000"/>
              </a:lnSpc>
              <a:spcBef>
                <a:spcPts val="1200"/>
              </a:spcBef>
              <a:spcAft>
                <a:spcPts val="0"/>
              </a:spcAft>
              <a:buClr>
                <a:schemeClr val="dk1"/>
              </a:buClr>
              <a:buSzPts val="1300"/>
              <a:buChar char="●"/>
            </a:pPr>
            <a:r>
              <a:rPr lang="en-GB" sz="1300">
                <a:solidFill>
                  <a:schemeClr val="dk1"/>
                </a:solidFill>
              </a:rPr>
              <a:t>OpenAI Codex Agents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Claude Code</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GitHub Copilot Agent</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Cursor AI</a:t>
            </a:r>
            <a:endParaRPr sz="1300">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sz="2100">
              <a:solidFill>
                <a:schemeClr val="dk2"/>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pic>
        <p:nvPicPr>
          <p:cNvPr descr="Make this high quality and don't change anything" id="270" name="Google Shape;270;p44"/>
          <p:cNvPicPr preferRelativeResize="0"/>
          <p:nvPr/>
        </p:nvPicPr>
        <p:blipFill>
          <a:blip r:embed="rId3">
            <a:alphaModFix/>
          </a:blip>
          <a:stretch>
            <a:fillRect/>
          </a:stretch>
        </p:blipFill>
        <p:spPr>
          <a:xfrm>
            <a:off x="0" y="0"/>
            <a:ext cx="9144000" cy="5143500"/>
          </a:xfrm>
          <a:prstGeom prst="rect">
            <a:avLst/>
          </a:prstGeom>
          <a:noFill/>
          <a:ln>
            <a:noFill/>
          </a:ln>
        </p:spPr>
      </p:pic>
      <p:sp>
        <p:nvSpPr>
          <p:cNvPr id="271" name="Google Shape;271;p44"/>
          <p:cNvSpPr txBox="1"/>
          <p:nvPr/>
        </p:nvSpPr>
        <p:spPr>
          <a:xfrm>
            <a:off x="1552650" y="1045850"/>
            <a:ext cx="6038700" cy="245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500">
                <a:solidFill>
                  <a:schemeClr val="dk1"/>
                </a:solidFill>
              </a:rPr>
              <a:t>“Artificial Intelligence has evolved from rule-based systems to intelligent models that can learn, reason, and generate content. Despite these advances, AI is not perfect and still requires human oversight, critical thinking, and ethical guidance. The future of AI is a collaborative partnership where humans and AI work together to solve complex problems more efficiently and responsibly.”</a:t>
            </a:r>
            <a:endParaRPr sz="2000">
              <a:solidFill>
                <a:schemeClr val="dk2"/>
              </a:solidFill>
            </a:endParaRPr>
          </a:p>
        </p:txBody>
      </p:sp>
      <p:sp>
        <p:nvSpPr>
          <p:cNvPr id="272" name="Google Shape;272;p44"/>
          <p:cNvSpPr txBox="1"/>
          <p:nvPr/>
        </p:nvSpPr>
        <p:spPr>
          <a:xfrm>
            <a:off x="2001475" y="333325"/>
            <a:ext cx="51552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800">
                <a:solidFill>
                  <a:srgbClr val="4E4545"/>
                </a:solidFill>
              </a:rPr>
              <a:t>Conclusion</a:t>
            </a:r>
            <a:endParaRPr b="1" sz="2800">
              <a:solidFill>
                <a:srgbClr val="4E4545"/>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descr="Make this high quality and don't change anything" id="277" name="Google Shape;277;p45"/>
          <p:cNvPicPr preferRelativeResize="0"/>
          <p:nvPr/>
        </p:nvPicPr>
        <p:blipFill>
          <a:blip r:embed="rId3">
            <a:alphaModFix/>
          </a:blip>
          <a:stretch>
            <a:fillRect/>
          </a:stretch>
        </p:blipFill>
        <p:spPr>
          <a:xfrm>
            <a:off x="0" y="0"/>
            <a:ext cx="9144000" cy="5143500"/>
          </a:xfrm>
          <a:prstGeom prst="rect">
            <a:avLst/>
          </a:prstGeom>
          <a:noFill/>
          <a:ln>
            <a:noFill/>
          </a:ln>
        </p:spPr>
      </p:pic>
      <p:sp>
        <p:nvSpPr>
          <p:cNvPr id="278" name="Google Shape;278;p45"/>
          <p:cNvSpPr txBox="1"/>
          <p:nvPr/>
        </p:nvSpPr>
        <p:spPr>
          <a:xfrm>
            <a:off x="3170850" y="2182650"/>
            <a:ext cx="2802300" cy="77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3000">
                <a:solidFill>
                  <a:schemeClr val="dk2"/>
                </a:solidFill>
              </a:rPr>
              <a:t>Any Questions?</a:t>
            </a:r>
            <a:endParaRPr sz="30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